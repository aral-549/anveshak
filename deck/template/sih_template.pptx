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Challenges</c:v>
                </c:pt>
              </c:strCache>
            </c:strRef>
          </c:tx>
          <c:spPr>
            <a:solidFill>
              <a:schemeClr val="accent1"/>
            </a:solidFill>
            <a:ln w="9525" cap="flat">
              <a:solidFill>
                <a:srgbClr val="F9F9F9"/>
              </a:solidFill>
              <a:prstDash val="solid"/>
              <a:round/>
            </a:ln>
            <a:effectLst/>
          </c:spPr>
          <c:dPt>
            <c:idx val="0"/>
            <c:bubble3D val="0"/>
            <c:spPr>
              <a:solidFill>
                <a:srgbClr val="E67E22"/>
              </a:solidFill>
              <a:effectLst/>
            </c:spPr>
            <c:extLst>
              <c:ext xmlns:c16="http://schemas.microsoft.com/office/drawing/2014/chart" uri="{C3380CC4-5D6E-409C-BE32-E72D297353CC}">
                <c16:uniqueId val="{00000001-08EB-4112-9583-709ED22176F0}"/>
              </c:ext>
            </c:extLst>
          </c:dPt>
          <c:dPt>
            <c:idx val="1"/>
            <c:bubble3D val="0"/>
            <c:spPr>
              <a:solidFill>
                <a:srgbClr val="3498DB"/>
              </a:solidFill>
              <a:effectLst/>
            </c:spPr>
            <c:extLst>
              <c:ext xmlns:c16="http://schemas.microsoft.com/office/drawing/2014/chart" uri="{C3380CC4-5D6E-409C-BE32-E72D297353CC}">
                <c16:uniqueId val="{00000003-08EB-4112-9583-709ED22176F0}"/>
              </c:ext>
            </c:extLst>
          </c:dPt>
          <c:dPt>
            <c:idx val="2"/>
            <c:bubble3D val="0"/>
            <c:spPr>
              <a:solidFill>
                <a:srgbClr val="27AE60"/>
              </a:solidFill>
              <a:effectLst/>
            </c:spPr>
            <c:extLst>
              <c:ext xmlns:c16="http://schemas.microsoft.com/office/drawing/2014/chart" uri="{C3380CC4-5D6E-409C-BE32-E72D297353CC}">
                <c16:uniqueId val="{00000005-08EB-4112-9583-709ED22176F0}"/>
              </c:ext>
            </c:extLst>
          </c:dPt>
          <c:dPt>
            <c:idx val="3"/>
            <c:bubble3D val="0"/>
            <c:spPr>
              <a:solidFill>
                <a:srgbClr val="F1C40F"/>
              </a:solidFill>
              <a:effectLst/>
            </c:spPr>
            <c:extLst>
              <c:ext xmlns:c16="http://schemas.microsoft.com/office/drawing/2014/chart" uri="{C3380CC4-5D6E-409C-BE32-E72D297353CC}">
                <c16:uniqueId val="{00000007-08EB-4112-9583-709ED22176F0}"/>
              </c:ext>
            </c:extLst>
          </c:dPt>
          <c:dPt>
            <c:idx val="4"/>
            <c:bubble3D val="0"/>
            <c:spPr>
              <a:solidFill>
                <a:srgbClr val="8E44AD"/>
              </a:solidFill>
              <a:effectLst/>
            </c:spPr>
            <c:extLst>
              <c:ext xmlns:c16="http://schemas.microsoft.com/office/drawing/2014/chart" uri="{C3380CC4-5D6E-409C-BE32-E72D297353CC}">
                <c16:uniqueId val="{00000009-08EB-4112-9583-709ED22176F0}"/>
              </c:ext>
            </c:extLst>
          </c:dPt>
          <c:dPt>
            <c:idx val="5"/>
            <c:bubble3D val="0"/>
            <c:spPr>
              <a:solidFill>
                <a:srgbClr val="C0392B"/>
              </a:solidFill>
              <a:effectLst/>
            </c:spPr>
            <c:extLst>
              <c:ext xmlns:c16="http://schemas.microsoft.com/office/drawing/2014/chart" uri="{C3380CC4-5D6E-409C-BE32-E72D297353CC}">
                <c16:uniqueId val="{0000000B-08EB-4112-9583-709ED22176F0}"/>
              </c:ext>
            </c:extLst>
          </c:dPt>
          <c:dLbls>
            <c:dLbl>
              <c:idx val="0"/>
              <c:numFmt formatCode="0&quot;%&quot;" sourceLinked="0"/>
              <c:spPr/>
              <c:txPr>
                <a:bodyPr/>
                <a:lstStyle/>
                <a:p>
                  <a:pPr>
                    <a:defRPr sz="1000" b="1" i="0" u="none" strike="noStrike">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8EB-4112-9583-709ED22176F0}"/>
                </c:ext>
              </c:extLst>
            </c:dLbl>
            <c:dLbl>
              <c:idx val="1"/>
              <c:numFmt formatCode="0&quot;%&quot;" sourceLinked="0"/>
              <c:spPr/>
              <c:txPr>
                <a:bodyPr/>
                <a:lstStyle/>
                <a:p>
                  <a:pPr>
                    <a:defRPr sz="1000" b="1" i="0" u="none" strike="noStrike">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8EB-4112-9583-709ED22176F0}"/>
                </c:ext>
              </c:extLst>
            </c:dLbl>
            <c:dLbl>
              <c:idx val="2"/>
              <c:numFmt formatCode="0&quot;%&quot;" sourceLinked="0"/>
              <c:spPr/>
              <c:txPr>
                <a:bodyPr/>
                <a:lstStyle/>
                <a:p>
                  <a:pPr>
                    <a:defRPr sz="1000" b="1" i="0" u="none" strike="noStrike">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8EB-4112-9583-709ED22176F0}"/>
                </c:ext>
              </c:extLst>
            </c:dLbl>
            <c:dLbl>
              <c:idx val="3"/>
              <c:numFmt formatCode="0&quot;%&quot;" sourceLinked="0"/>
              <c:spPr/>
              <c:txPr>
                <a:bodyPr/>
                <a:lstStyle/>
                <a:p>
                  <a:pPr>
                    <a:defRPr sz="1000" b="1" i="0" u="none" strike="noStrike">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8EB-4112-9583-709ED22176F0}"/>
                </c:ext>
              </c:extLst>
            </c:dLbl>
            <c:dLbl>
              <c:idx val="4"/>
              <c:numFmt formatCode="0&quot;%&quot;" sourceLinked="0"/>
              <c:spPr/>
              <c:txPr>
                <a:bodyPr/>
                <a:lstStyle/>
                <a:p>
                  <a:pPr>
                    <a:defRPr sz="1000" b="1" i="0" u="none" strike="noStrike">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8EB-4112-9583-709ED22176F0}"/>
                </c:ext>
              </c:extLst>
            </c:dLbl>
            <c:dLbl>
              <c:idx val="5"/>
              <c:numFmt formatCode="0&quot;%&quot;" sourceLinked="0"/>
              <c:spPr/>
              <c:txPr>
                <a:bodyPr/>
                <a:lstStyle/>
                <a:p>
                  <a:pPr>
                    <a:defRPr sz="1000" b="1" i="0" u="none" strike="noStrike">
                      <a:solidFill>
                        <a:srgbClr val="FFFFFF"/>
                      </a:solidFill>
                      <a:latin typeface="Aria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8EB-4112-9583-709ED22176F0}"/>
                </c:ext>
              </c:extLst>
            </c:dLbl>
            <c:numFmt formatCode="0&quot;%&quot;"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SAR look-alikes</c:v>
                </c:pt>
                <c:pt idx="1">
                  <c:v>AIS gaps &amp; dark vessels</c:v>
                </c:pt>
                <c:pt idx="2">
                  <c:v>Met-ocean uncertainty</c:v>
                </c:pt>
                <c:pt idx="3">
                  <c:v>Spoofed identities</c:v>
                </c:pt>
                <c:pt idx="4">
                  <c:v>Missing georeference</c:v>
                </c:pt>
                <c:pt idx="5">
                  <c:v>Evidentiary standard</c:v>
                </c:pt>
              </c:strCache>
            </c:strRef>
          </c:cat>
          <c:val>
            <c:numRef>
              <c:f>Sheet1!$B$2:$B$7</c:f>
              <c:numCache>
                <c:formatCode>General</c:formatCode>
                <c:ptCount val="6"/>
                <c:pt idx="0">
                  <c:v>25</c:v>
                </c:pt>
                <c:pt idx="1">
                  <c:v>20</c:v>
                </c:pt>
                <c:pt idx="2">
                  <c:v>20</c:v>
                </c:pt>
                <c:pt idx="3">
                  <c:v>15</c:v>
                </c:pt>
                <c:pt idx="4">
                  <c:v>10</c:v>
                </c:pt>
                <c:pt idx="5">
                  <c:v>10</c:v>
                </c:pt>
              </c:numCache>
            </c:numRef>
          </c:val>
          <c:extLst>
            <c:ext xmlns:c16="http://schemas.microsoft.com/office/drawing/2014/chart" uri="{C3380CC4-5D6E-409C-BE32-E72D297353CC}">
              <c16:uniqueId val="{0000000C-08EB-4112-9583-709ED22176F0}"/>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5717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SIH 2026, problem statement SIH26143 (NTRO). Live prototype: https://evinco-sih.centralindia.cloudapp.azure.com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on the image; drift and attribution need a georeference. Without one the pipeline withholds a position rather than inventing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the deployed prototype runs a case in about 21 seconds: 16.6 s detection, 1.3 s screening, 2.5 s drift, 0.4 s self-audit, 0.4 s attribution.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our own weighting of where attribution cases actually fail, used to prioritise engineering effort.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refusal case matters as much as the naming case: an attribution system that always names someone is not usable as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evinco-sih.centralindia.cloudapp.azure.com/" TargetMode="External"/><Relationship Id="rId4" Type="http://schemas.openxmlformats.org/officeDocument/2006/relationships/hyperlink" Target="https://github.com/Aral-549/prototype_evinco"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012680" y="201168"/>
            <a:ext cx="1874520" cy="905256"/>
          </a:xfrm>
          <a:prstGeom prst="rect">
            <a:avLst/>
          </a:prstGeom>
        </p:spPr>
      </p:pic>
      <p:sp>
        <p:nvSpPr>
          <p:cNvPr id="3" name="Text 0"/>
          <p:cNvSpPr txBox="1"/>
          <p:nvPr/>
        </p:nvSpPr>
        <p:spPr>
          <a:xfrm>
            <a:off x="822960" y="292608"/>
            <a:ext cx="8778240" cy="868680"/>
          </a:xfrm>
          <a:prstGeom prst="rect">
            <a:avLst/>
          </a:prstGeom>
          <a:noFill/>
          <a:ln/>
        </p:spPr>
        <p:txBody>
          <a:bodyPr wrap="square" lIns="0" tIns="0" rIns="0" bIns="0" rtlCol="0" anchor="ctr"/>
          <a:lstStyle/>
          <a:p>
            <a:pPr marL="0" indent="0" algn="ctr">
              <a:buNone/>
            </a:pPr>
            <a:r>
              <a:rPr lang="en-US" sz="3600" b="1" dirty="0">
                <a:solidFill>
                  <a:srgbClr val="225487"/>
                </a:solidFill>
                <a:latin typeface="Bookman Old Style" pitchFamily="34" charset="0"/>
                <a:ea typeface="Bookman Old Style" pitchFamily="34" charset="-122"/>
                <a:cs typeface="Bookman Old Style" pitchFamily="34" charset="-120"/>
              </a:rPr>
              <a:t>SMART INDIA HACKATHON 2026</a:t>
            </a:r>
            <a:endParaRPr lang="en-US" sz="3600" dirty="0"/>
          </a:p>
        </p:txBody>
      </p:sp>
      <p:pic>
        <p:nvPicPr>
          <p:cNvPr id="4" name="Image 1" descr="preencoded.png"/>
          <p:cNvPicPr>
            <a:picLocks noChangeAspect="1"/>
          </p:cNvPicPr>
          <p:nvPr/>
        </p:nvPicPr>
        <p:blipFill>
          <a:blip r:embed="rId4"/>
          <a:stretch>
            <a:fillRect/>
          </a:stretch>
        </p:blipFill>
        <p:spPr>
          <a:xfrm>
            <a:off x="6254496" y="1024128"/>
            <a:ext cx="4754880" cy="5257800"/>
          </a:xfrm>
          <a:prstGeom prst="rect">
            <a:avLst/>
          </a:prstGeom>
        </p:spPr>
      </p:pic>
      <p:pic>
        <p:nvPicPr>
          <p:cNvPr id="5" name="Image 2" descr="preencoded.png"/>
          <p:cNvPicPr>
            <a:picLocks noChangeAspect="1"/>
          </p:cNvPicPr>
          <p:nvPr/>
        </p:nvPicPr>
        <p:blipFill>
          <a:blip r:embed="rId5"/>
          <a:stretch>
            <a:fillRect/>
          </a:stretch>
        </p:blipFill>
        <p:spPr>
          <a:xfrm>
            <a:off x="7315200" y="2084832"/>
            <a:ext cx="3227832" cy="3703320"/>
          </a:xfrm>
          <a:prstGeom prst="rect">
            <a:avLst/>
          </a:prstGeom>
        </p:spPr>
      </p:pic>
      <p:sp>
        <p:nvSpPr>
          <p:cNvPr id="6" name="Text 1"/>
          <p:cNvSpPr txBox="1"/>
          <p:nvPr/>
        </p:nvSpPr>
        <p:spPr>
          <a:xfrm>
            <a:off x="868680" y="1600200"/>
            <a:ext cx="5760720" cy="4206240"/>
          </a:xfrm>
          <a:prstGeom prst="rect">
            <a:avLst/>
          </a:prstGeom>
          <a:noFill/>
          <a:ln/>
        </p:spPr>
        <p:txBody>
          <a:bodyPr wrap="square" lIns="0" tIns="0" rIns="0" bIns="0" rtlCol="0" anchor="ctr"/>
          <a:lstStyle/>
          <a:p>
            <a:pPr marL="342900" indent="-342900">
              <a:lnSpc>
                <a:spcPts val="2400"/>
              </a:lnSpc>
              <a:spcAft>
                <a:spcPts val="1200"/>
              </a:spcAft>
              <a:buSzPct val="100000"/>
              <a:buChar char="•"/>
            </a:pPr>
            <a:r>
              <a:rPr lang="en-US" sz="1650" b="1" dirty="0">
                <a:solidFill>
                  <a:srgbClr val="1A1A1A"/>
                </a:solidFill>
                <a:latin typeface="Calibri" pitchFamily="34" charset="0"/>
                <a:ea typeface="Calibri" pitchFamily="34" charset="-122"/>
                <a:cs typeface="Calibri" pitchFamily="34" charset="-120"/>
              </a:rPr>
              <a:t>Problem Statement ID – SIH26143</a:t>
            </a:r>
            <a:endParaRPr lang="en-US" sz="1650" dirty="0"/>
          </a:p>
          <a:p>
            <a:pPr marL="342900" indent="-342900">
              <a:lnSpc>
                <a:spcPts val="2400"/>
              </a:lnSpc>
              <a:spcAft>
                <a:spcPts val="1200"/>
              </a:spcAft>
              <a:buSzPct val="100000"/>
              <a:buChar char="•"/>
            </a:pPr>
            <a:r>
              <a:rPr lang="en-US" sz="1650" b="1" dirty="0">
                <a:solidFill>
                  <a:srgbClr val="1A1A1A"/>
                </a:solidFill>
                <a:latin typeface="Calibri" pitchFamily="34" charset="0"/>
                <a:ea typeface="Calibri" pitchFamily="34" charset="-122"/>
                <a:cs typeface="Calibri" pitchFamily="34" charset="-120"/>
              </a:rPr>
              <a:t>Problem Statement Title – Leveraging satellite imagery to determine oil spills at sea along with AIS data correlations to identify the vessel responsible for the spill</a:t>
            </a:r>
            <a:endParaRPr lang="en-US" sz="1650" dirty="0"/>
          </a:p>
          <a:p>
            <a:pPr marL="342900" indent="-342900">
              <a:lnSpc>
                <a:spcPts val="2400"/>
              </a:lnSpc>
              <a:spcAft>
                <a:spcPts val="1200"/>
              </a:spcAft>
              <a:buSzPct val="100000"/>
              <a:buChar char="•"/>
            </a:pPr>
            <a:r>
              <a:rPr lang="en-US" sz="1650" b="1" dirty="0">
                <a:solidFill>
                  <a:srgbClr val="1A1A1A"/>
                </a:solidFill>
                <a:latin typeface="Calibri" pitchFamily="34" charset="0"/>
                <a:ea typeface="Calibri" pitchFamily="34" charset="-122"/>
                <a:cs typeface="Calibri" pitchFamily="34" charset="-120"/>
              </a:rPr>
              <a:t>Theme – Disaster Management</a:t>
            </a:r>
            <a:endParaRPr lang="en-US" sz="1650" dirty="0"/>
          </a:p>
          <a:p>
            <a:pPr marL="342900" indent="-342900">
              <a:lnSpc>
                <a:spcPts val="2400"/>
              </a:lnSpc>
              <a:spcAft>
                <a:spcPts val="1200"/>
              </a:spcAft>
              <a:buSzPct val="100000"/>
              <a:buChar char="•"/>
            </a:pPr>
            <a:r>
              <a:rPr lang="en-US" sz="1650" b="1" dirty="0">
                <a:solidFill>
                  <a:srgbClr val="1A1A1A"/>
                </a:solidFill>
                <a:latin typeface="Calibri" pitchFamily="34" charset="0"/>
                <a:ea typeface="Calibri" pitchFamily="34" charset="-122"/>
                <a:cs typeface="Calibri" pitchFamily="34" charset="-120"/>
              </a:rPr>
              <a:t>PS Category – Software</a:t>
            </a:r>
            <a:endParaRPr lang="en-US" sz="1650" dirty="0"/>
          </a:p>
          <a:p>
            <a:pPr marL="342900" indent="-342900">
              <a:lnSpc>
                <a:spcPts val="2400"/>
              </a:lnSpc>
              <a:spcAft>
                <a:spcPts val="1200"/>
              </a:spcAft>
              <a:buSzPct val="100000"/>
              <a:buChar char="•"/>
            </a:pPr>
            <a:r>
              <a:rPr lang="en-US" sz="1650" b="1" dirty="0">
                <a:solidFill>
                  <a:srgbClr val="1A1A1A"/>
                </a:solidFill>
                <a:latin typeface="Calibri" pitchFamily="34" charset="0"/>
                <a:ea typeface="Calibri" pitchFamily="34" charset="-122"/>
                <a:cs typeface="Calibri" pitchFamily="34" charset="-120"/>
              </a:rPr>
              <a:t>Team ID – 120057</a:t>
            </a:r>
            <a:endParaRPr lang="en-US" sz="1650" dirty="0"/>
          </a:p>
          <a:p>
            <a:pPr marL="342900" indent="-342900">
              <a:lnSpc>
                <a:spcPts val="2400"/>
              </a:lnSpc>
              <a:spcAft>
                <a:spcPts val="1200"/>
              </a:spcAft>
              <a:buSzPct val="100000"/>
              <a:buChar char="•"/>
            </a:pPr>
            <a:r>
              <a:rPr lang="en-US" sz="1650" b="1" dirty="0">
                <a:solidFill>
                  <a:srgbClr val="1A1A1A"/>
                </a:solidFill>
                <a:latin typeface="Calibri" pitchFamily="34" charset="0"/>
                <a:ea typeface="Calibri" pitchFamily="34" charset="-122"/>
                <a:cs typeface="Calibri" pitchFamily="34" charset="-120"/>
              </a:rPr>
              <a:t>Team Name – Evinco</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92608" y="201168"/>
            <a:ext cx="1554480" cy="603504"/>
          </a:xfrm>
          <a:prstGeom prst="ellipse">
            <a:avLst/>
          </a:prstGeom>
          <a:solidFill>
            <a:srgbClr val="FFFFFF"/>
          </a:solidFill>
          <a:ln w="12700">
            <a:solidFill>
              <a:srgbClr val="5B4B8A"/>
            </a:solidFill>
            <a:prstDash val="solid"/>
          </a:ln>
        </p:spPr>
        <p:txBody>
          <a:bodyPr/>
          <a:lstStyle/>
          <a:p>
            <a:endParaRPr lang="en-IN"/>
          </a:p>
        </p:txBody>
      </p:sp>
      <p:sp>
        <p:nvSpPr>
          <p:cNvPr id="3" name="Text 1"/>
          <p:cNvSpPr txBox="1"/>
          <p:nvPr/>
        </p:nvSpPr>
        <p:spPr>
          <a:xfrm>
            <a:off x="292608" y="201168"/>
            <a:ext cx="1554480" cy="603504"/>
          </a:xfrm>
          <a:prstGeom prst="rect">
            <a:avLst/>
          </a:prstGeom>
          <a:noFill/>
          <a:ln/>
        </p:spPr>
        <p:txBody>
          <a:bodyPr wrap="square" lIns="0" tIns="0" rIns="0" bIns="0"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Evinco</a:t>
            </a:r>
            <a:endParaRPr lang="en-US" sz="1600" dirty="0"/>
          </a:p>
        </p:txBody>
      </p:sp>
      <p:sp>
        <p:nvSpPr>
          <p:cNvPr id="4" name="Text 2"/>
          <p:cNvSpPr txBox="1"/>
          <p:nvPr/>
        </p:nvSpPr>
        <p:spPr>
          <a:xfrm>
            <a:off x="1965960" y="146304"/>
            <a:ext cx="8138160" cy="731520"/>
          </a:xfrm>
          <a:prstGeom prst="rect">
            <a:avLst/>
          </a:prstGeom>
          <a:noFill/>
          <a:ln/>
        </p:spPr>
        <p:txBody>
          <a:bodyPr wrap="square" lIns="0" tIns="0" rIns="0" bIns="0" rtlCol="0" anchor="ctr"/>
          <a:lstStyle/>
          <a:p>
            <a:pPr marL="0" indent="0" algn="ctr">
              <a:buNone/>
            </a:pPr>
            <a:r>
              <a:rPr lang="en-US" sz="3200" b="1">
                <a:solidFill>
                  <a:srgbClr val="000000"/>
                </a:solidFill>
                <a:latin typeface="Bookman Old Style" pitchFamily="34" charset="0"/>
              </a:rPr>
              <a:t>MarSlick</a:t>
            </a:r>
            <a:endParaRPr lang="en-US" sz="3200" dirty="0"/>
          </a:p>
        </p:txBody>
      </p:sp>
      <p:pic>
        <p:nvPicPr>
          <p:cNvPr id="5" name="Image 0" descr="preencoded.png"/>
          <p:cNvPicPr>
            <a:picLocks noChangeAspect="1"/>
          </p:cNvPicPr>
          <p:nvPr/>
        </p:nvPicPr>
        <p:blipFill>
          <a:blip r:embed="rId3"/>
          <a:stretch>
            <a:fillRect/>
          </a:stretch>
        </p:blipFill>
        <p:spPr>
          <a:xfrm>
            <a:off x="10195560" y="201168"/>
            <a:ext cx="1691640" cy="813816"/>
          </a:xfrm>
          <a:prstGeom prst="rect">
            <a:avLst/>
          </a:prstGeom>
        </p:spPr>
      </p:pic>
      <p:sp>
        <p:nvSpPr>
          <p:cNvPr id="6" name="Shape 3"/>
          <p:cNvSpPr/>
          <p:nvPr/>
        </p:nvSpPr>
        <p:spPr>
          <a:xfrm>
            <a:off x="0" y="6455664"/>
            <a:ext cx="12188952" cy="402336"/>
          </a:xfrm>
          <a:prstGeom prst="rect">
            <a:avLst/>
          </a:prstGeom>
          <a:solidFill>
            <a:srgbClr val="0171C1"/>
          </a:solidFill>
          <a:ln/>
        </p:spPr>
        <p:txBody>
          <a:bodyPr/>
          <a:lstStyle/>
          <a:p>
            <a:endParaRPr lang="en-IN"/>
          </a:p>
        </p:txBody>
      </p:sp>
      <p:sp>
        <p:nvSpPr>
          <p:cNvPr id="7" name="Text 4"/>
          <p:cNvSpPr txBox="1"/>
          <p:nvPr/>
        </p:nvSpPr>
        <p:spPr>
          <a:xfrm>
            <a:off x="11274552" y="6455664"/>
            <a:ext cx="685800" cy="402336"/>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8" name="Text 5"/>
          <p:cNvSpPr txBox="1"/>
          <p:nvPr/>
        </p:nvSpPr>
        <p:spPr>
          <a:xfrm>
            <a:off x="502920" y="1115568"/>
            <a:ext cx="3657600" cy="310896"/>
          </a:xfrm>
          <a:prstGeom prst="rect">
            <a:avLst/>
          </a:prstGeom>
          <a:noFill/>
          <a:ln/>
        </p:spPr>
        <p:txBody>
          <a:bodyPr wrap="square" lIns="0" tIns="0" rIns="0" bIns="0" rtlCol="0" anchor="ctr"/>
          <a:lstStyle/>
          <a:p>
            <a:pPr marL="0" indent="0">
              <a:buNone/>
            </a:pPr>
            <a:r>
              <a:rPr lang="en-US" sz="1900" b="1" u="sng" dirty="0">
                <a:solidFill>
                  <a:srgbClr val="225487"/>
                </a:solidFill>
                <a:latin typeface="Calibri" pitchFamily="34" charset="0"/>
                <a:ea typeface="Calibri" pitchFamily="34" charset="-122"/>
                <a:cs typeface="Calibri" pitchFamily="34" charset="-120"/>
              </a:rPr>
              <a:t>Proposed Solution :</a:t>
            </a:r>
            <a:endParaRPr lang="en-US" sz="1900" dirty="0"/>
          </a:p>
        </p:txBody>
      </p:sp>
      <p:sp>
        <p:nvSpPr>
          <p:cNvPr id="9" name="Text 6"/>
          <p:cNvSpPr txBox="1"/>
          <p:nvPr/>
        </p:nvSpPr>
        <p:spPr>
          <a:xfrm>
            <a:off x="685800" y="1444752"/>
            <a:ext cx="10881360" cy="731520"/>
          </a:xfrm>
          <a:prstGeom prst="rect">
            <a:avLst/>
          </a:prstGeom>
          <a:noFill/>
          <a:ln/>
        </p:spPr>
        <p:txBody>
          <a:bodyPr wrap="square" lIns="0" tIns="0" rIns="0" bIns="0" rtlCol="0" anchor="ctr"/>
          <a:lstStyle/>
          <a:p>
            <a:pPr marL="0" indent="0">
              <a:lnSpc>
                <a:spcPts val="1700"/>
              </a:lnSpc>
              <a:buNone/>
            </a:pPr>
            <a:r>
              <a:rPr lang="en-US" sz="1300" dirty="0">
                <a:solidFill>
                  <a:srgbClr val="1A1A1A"/>
                </a:solidFill>
                <a:latin typeface="Calibri" pitchFamily="34" charset="0"/>
                <a:ea typeface="Calibri" pitchFamily="34" charset="-122"/>
                <a:cs typeface="Calibri" pitchFamily="34" charset="-120"/>
              </a:rPr>
              <a:t>MarSlick — a web-based forensic console that detects an oil slick in a Sentinel-1 SAR scene, rewinds the ocean to reconstruct where and when it was released, and ranks AIS vessel tracks by how well each one explains that release. Every case is sealed into a reproducible, hash-verified dossier.</a:t>
            </a:r>
            <a:endParaRPr lang="en-US" sz="1300" dirty="0"/>
          </a:p>
        </p:txBody>
      </p:sp>
      <p:sp>
        <p:nvSpPr>
          <p:cNvPr id="10" name="Text 7"/>
          <p:cNvSpPr txBox="1"/>
          <p:nvPr/>
        </p:nvSpPr>
        <p:spPr>
          <a:xfrm>
            <a:off x="502920" y="2304288"/>
            <a:ext cx="3291840" cy="329184"/>
          </a:xfrm>
          <a:prstGeom prst="rect">
            <a:avLst/>
          </a:prstGeom>
          <a:noFill/>
          <a:ln/>
        </p:spPr>
        <p:txBody>
          <a:bodyPr wrap="square" lIns="0" tIns="0" rIns="0" bIns="0" rtlCol="0" anchor="ctr"/>
          <a:lstStyle/>
          <a:p>
            <a:pPr marL="0" indent="0">
              <a:buNone/>
            </a:pPr>
            <a:r>
              <a:rPr lang="en-US" sz="1800" b="1" dirty="0">
                <a:solidFill>
                  <a:srgbClr val="111111"/>
                </a:solidFill>
                <a:latin typeface="Calibri" pitchFamily="34" charset="0"/>
                <a:ea typeface="Calibri" pitchFamily="34" charset="-122"/>
                <a:cs typeface="Calibri" pitchFamily="34" charset="-120"/>
              </a:rPr>
              <a:t>Addressing the Problem :</a:t>
            </a:r>
            <a:endParaRPr lang="en-US" sz="1800" dirty="0"/>
          </a:p>
        </p:txBody>
      </p:sp>
      <p:sp>
        <p:nvSpPr>
          <p:cNvPr id="11" name="Shape 8"/>
          <p:cNvSpPr/>
          <p:nvPr/>
        </p:nvSpPr>
        <p:spPr>
          <a:xfrm>
            <a:off x="502920" y="2724912"/>
            <a:ext cx="3246120" cy="3264408"/>
          </a:xfrm>
          <a:prstGeom prst="roundRect">
            <a:avLst>
              <a:gd name="adj" fmla="val 4507"/>
            </a:avLst>
          </a:prstGeom>
          <a:solidFill>
            <a:srgbClr val="FFFFFF"/>
          </a:solidFill>
          <a:ln w="19050">
            <a:solidFill>
              <a:srgbClr val="000000"/>
            </a:solidFill>
            <a:prstDash val="solid"/>
          </a:ln>
        </p:spPr>
        <p:txBody>
          <a:bodyPr/>
          <a:lstStyle/>
          <a:p>
            <a:endParaRPr lang="en-IN"/>
          </a:p>
        </p:txBody>
      </p:sp>
      <p:sp>
        <p:nvSpPr>
          <p:cNvPr id="12" name="Text 9"/>
          <p:cNvSpPr txBox="1"/>
          <p:nvPr/>
        </p:nvSpPr>
        <p:spPr>
          <a:xfrm>
            <a:off x="649224" y="2816352"/>
            <a:ext cx="2953512" cy="3081528"/>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250" dirty="0">
                <a:solidFill>
                  <a:srgbClr val="141414"/>
                </a:solidFill>
                <a:latin typeface="Calibri" pitchFamily="34" charset="0"/>
                <a:ea typeface="Calibri" pitchFamily="34" charset="-122"/>
                <a:cs typeface="Calibri" pitchFamily="34" charset="-120"/>
              </a:rPr>
              <a:t>Coastal authorities take 48–72 hours to attribute a spill by hand; the vessel is in foreign waters by then.</a:t>
            </a:r>
            <a:endParaRPr lang="en-US" sz="1250" dirty="0"/>
          </a:p>
          <a:p>
            <a:pPr marL="342900" indent="-342900">
              <a:lnSpc>
                <a:spcPts val="1500"/>
              </a:lnSpc>
              <a:spcAft>
                <a:spcPts val="900"/>
              </a:spcAft>
              <a:buSzPct val="100000"/>
              <a:buChar char="•"/>
            </a:pPr>
            <a:r>
              <a:rPr lang="en-US" sz="1250" dirty="0">
                <a:solidFill>
                  <a:srgbClr val="141414"/>
                </a:solidFill>
                <a:latin typeface="Calibri" pitchFamily="34" charset="0"/>
                <a:ea typeface="Calibri" pitchFamily="34" charset="-122"/>
                <a:cs typeface="Calibri" pitchFamily="34" charset="-120"/>
              </a:rPr>
              <a:t>Turns a dark patch in a radar image into evidence an enforcement officer can actually act on.</a:t>
            </a:r>
            <a:endParaRPr lang="en-US" sz="1250" dirty="0"/>
          </a:p>
          <a:p>
            <a:pPr marL="342900" indent="-342900">
              <a:lnSpc>
                <a:spcPts val="1500"/>
              </a:lnSpc>
              <a:buSzPct val="100000"/>
              <a:buChar char="•"/>
            </a:pPr>
            <a:r>
              <a:rPr lang="en-US" sz="1250" dirty="0">
                <a:solidFill>
                  <a:srgbClr val="141414"/>
                </a:solidFill>
                <a:latin typeface="Calibri" pitchFamily="34" charset="0"/>
                <a:ea typeface="Calibri" pitchFamily="34" charset="-122"/>
                <a:cs typeface="Calibri" pitchFamily="34" charset="-120"/>
              </a:rPr>
              <a:t>Deters illegal tank washing and bilge dumping inside India’s EEZ.</a:t>
            </a:r>
            <a:endParaRPr lang="en-US" sz="1250" dirty="0"/>
          </a:p>
        </p:txBody>
      </p:sp>
      <p:sp>
        <p:nvSpPr>
          <p:cNvPr id="13" name="Text 10"/>
          <p:cNvSpPr txBox="1"/>
          <p:nvPr/>
        </p:nvSpPr>
        <p:spPr>
          <a:xfrm>
            <a:off x="8275320" y="2304288"/>
            <a:ext cx="3291840" cy="329184"/>
          </a:xfrm>
          <a:prstGeom prst="rect">
            <a:avLst/>
          </a:prstGeom>
          <a:noFill/>
          <a:ln/>
        </p:spPr>
        <p:txBody>
          <a:bodyPr wrap="square" lIns="0" tIns="0" rIns="0" bIns="0" rtlCol="0" anchor="ctr"/>
          <a:lstStyle/>
          <a:p>
            <a:pPr marL="0" indent="0">
              <a:buNone/>
            </a:pPr>
            <a:r>
              <a:rPr lang="en-US" sz="1800" b="1" dirty="0">
                <a:solidFill>
                  <a:srgbClr val="111111"/>
                </a:solidFill>
                <a:latin typeface="Calibri" pitchFamily="34" charset="0"/>
                <a:ea typeface="Calibri" pitchFamily="34" charset="-122"/>
                <a:cs typeface="Calibri" pitchFamily="34" charset="-120"/>
              </a:rPr>
              <a:t>Innovation and uniqueness :</a:t>
            </a:r>
            <a:endParaRPr lang="en-US" sz="1800" dirty="0"/>
          </a:p>
        </p:txBody>
      </p:sp>
      <p:sp>
        <p:nvSpPr>
          <p:cNvPr id="14" name="Shape 11"/>
          <p:cNvSpPr/>
          <p:nvPr/>
        </p:nvSpPr>
        <p:spPr>
          <a:xfrm>
            <a:off x="8275320" y="2724912"/>
            <a:ext cx="3383280" cy="996696"/>
          </a:xfrm>
          <a:prstGeom prst="roundRect">
            <a:avLst>
              <a:gd name="adj" fmla="val 14679"/>
            </a:avLst>
          </a:prstGeom>
          <a:solidFill>
            <a:srgbClr val="FFFFFF"/>
          </a:solidFill>
          <a:ln w="19050">
            <a:solidFill>
              <a:srgbClr val="000000"/>
            </a:solidFill>
            <a:prstDash val="solid"/>
          </a:ln>
        </p:spPr>
        <p:txBody>
          <a:bodyPr/>
          <a:lstStyle/>
          <a:p>
            <a:endParaRPr lang="en-IN"/>
          </a:p>
        </p:txBody>
      </p:sp>
      <p:sp>
        <p:nvSpPr>
          <p:cNvPr id="15" name="Text 12"/>
          <p:cNvSpPr txBox="1"/>
          <p:nvPr/>
        </p:nvSpPr>
        <p:spPr>
          <a:xfrm>
            <a:off x="8421624" y="2816352"/>
            <a:ext cx="3090672" cy="813816"/>
          </a:xfrm>
          <a:prstGeom prst="rect">
            <a:avLst/>
          </a:prstGeom>
          <a:noFill/>
          <a:ln/>
        </p:spPr>
        <p:txBody>
          <a:bodyPr wrap="square" lIns="0" tIns="0" rIns="0" bIns="0" rtlCol="0" anchor="ctr"/>
          <a:lstStyle/>
          <a:p>
            <a:pPr marL="342900" indent="-342900">
              <a:lnSpc>
                <a:spcPts val="1400"/>
              </a:lnSpc>
              <a:buSzPct val="100000"/>
              <a:buChar char="•"/>
            </a:pPr>
            <a:r>
              <a:rPr lang="en-US" sz="1150" dirty="0">
                <a:solidFill>
                  <a:srgbClr val="141414"/>
                </a:solidFill>
                <a:latin typeface="Calibri" pitchFamily="34" charset="0"/>
                <a:ea typeface="Calibri" pitchFamily="34" charset="-122"/>
                <a:cs typeface="Calibri" pitchFamily="34" charset="-120"/>
              </a:rPr>
              <a:t>SAR slick detection by a two-model deep ensemble (U-Net + SegFormer-B0), Dice 0.80.</a:t>
            </a:r>
            <a:endParaRPr lang="en-US" sz="1150" dirty="0"/>
          </a:p>
        </p:txBody>
      </p:sp>
      <p:sp>
        <p:nvSpPr>
          <p:cNvPr id="16" name="Shape 13"/>
          <p:cNvSpPr/>
          <p:nvPr/>
        </p:nvSpPr>
        <p:spPr>
          <a:xfrm>
            <a:off x="8275320" y="3858768"/>
            <a:ext cx="3383280" cy="996696"/>
          </a:xfrm>
          <a:prstGeom prst="roundRect">
            <a:avLst>
              <a:gd name="adj" fmla="val 14679"/>
            </a:avLst>
          </a:prstGeom>
          <a:solidFill>
            <a:srgbClr val="FFFFFF"/>
          </a:solidFill>
          <a:ln w="19050">
            <a:solidFill>
              <a:srgbClr val="000000"/>
            </a:solidFill>
            <a:prstDash val="solid"/>
          </a:ln>
        </p:spPr>
        <p:txBody>
          <a:bodyPr/>
          <a:lstStyle/>
          <a:p>
            <a:endParaRPr lang="en-IN"/>
          </a:p>
        </p:txBody>
      </p:sp>
      <p:sp>
        <p:nvSpPr>
          <p:cNvPr id="17" name="Text 14"/>
          <p:cNvSpPr txBox="1"/>
          <p:nvPr/>
        </p:nvSpPr>
        <p:spPr>
          <a:xfrm>
            <a:off x="8421624" y="3950208"/>
            <a:ext cx="3090672" cy="813816"/>
          </a:xfrm>
          <a:prstGeom prst="rect">
            <a:avLst/>
          </a:prstGeom>
          <a:noFill/>
          <a:ln/>
        </p:spPr>
        <p:txBody>
          <a:bodyPr wrap="square" lIns="0" tIns="0" rIns="0" bIns="0" rtlCol="0" anchor="ctr"/>
          <a:lstStyle/>
          <a:p>
            <a:pPr marL="342900" indent="-342900">
              <a:lnSpc>
                <a:spcPts val="1400"/>
              </a:lnSpc>
              <a:buSzPct val="100000"/>
              <a:buChar char="•"/>
            </a:pPr>
            <a:r>
              <a:rPr lang="en-US" sz="1150" dirty="0">
                <a:solidFill>
                  <a:srgbClr val="141414"/>
                </a:solidFill>
                <a:latin typeface="Calibri" pitchFamily="34" charset="0"/>
                <a:ea typeface="Calibri" pitchFamily="34" charset="-122"/>
                <a:cs typeface="Calibri" pitchFamily="34" charset="-120"/>
              </a:rPr>
              <a:t>Backward Monte Carlo drift over hourly wind and current fields → release point with 50 % / 90 % radii.</a:t>
            </a:r>
            <a:endParaRPr lang="en-US" sz="1150" dirty="0"/>
          </a:p>
        </p:txBody>
      </p:sp>
      <p:sp>
        <p:nvSpPr>
          <p:cNvPr id="18" name="Shape 15"/>
          <p:cNvSpPr/>
          <p:nvPr/>
        </p:nvSpPr>
        <p:spPr>
          <a:xfrm>
            <a:off x="8275320" y="4992624"/>
            <a:ext cx="3383280" cy="996696"/>
          </a:xfrm>
          <a:prstGeom prst="roundRect">
            <a:avLst>
              <a:gd name="adj" fmla="val 14679"/>
            </a:avLst>
          </a:prstGeom>
          <a:solidFill>
            <a:srgbClr val="FFFFFF"/>
          </a:solidFill>
          <a:ln w="19050">
            <a:solidFill>
              <a:srgbClr val="000000"/>
            </a:solidFill>
            <a:prstDash val="solid"/>
          </a:ln>
        </p:spPr>
        <p:txBody>
          <a:bodyPr/>
          <a:lstStyle/>
          <a:p>
            <a:endParaRPr lang="en-IN"/>
          </a:p>
        </p:txBody>
      </p:sp>
      <p:sp>
        <p:nvSpPr>
          <p:cNvPr id="19" name="Text 16"/>
          <p:cNvSpPr txBox="1"/>
          <p:nvPr/>
        </p:nvSpPr>
        <p:spPr>
          <a:xfrm>
            <a:off x="8421624" y="5084064"/>
            <a:ext cx="3090672" cy="813816"/>
          </a:xfrm>
          <a:prstGeom prst="rect">
            <a:avLst/>
          </a:prstGeom>
          <a:noFill/>
          <a:ln/>
        </p:spPr>
        <p:txBody>
          <a:bodyPr wrap="square" lIns="0" tIns="0" rIns="0" bIns="0" rtlCol="0" anchor="ctr"/>
          <a:lstStyle/>
          <a:p>
            <a:pPr marL="342900" indent="-342900">
              <a:lnSpc>
                <a:spcPts val="1400"/>
              </a:lnSpc>
              <a:buSzPct val="100000"/>
              <a:buChar char="•"/>
            </a:pPr>
            <a:r>
              <a:rPr lang="en-US" sz="1150" dirty="0">
                <a:solidFill>
                  <a:srgbClr val="141414"/>
                </a:solidFill>
                <a:latin typeface="Calibri" pitchFamily="34" charset="0"/>
                <a:ea typeface="Calibri" pitchFamily="34" charset="-122"/>
                <a:cs typeface="Calibri" pitchFamily="34" charset="-120"/>
              </a:rPr>
              <a:t>Joint space–time Bayesian AIS attribution that can answer “insufficient evidence”, sealed with a SHA-256 chain of custody.</a:t>
            </a:r>
            <a:endParaRPr lang="en-US" sz="1150" dirty="0"/>
          </a:p>
        </p:txBody>
      </p:sp>
      <p:sp>
        <p:nvSpPr>
          <p:cNvPr id="20" name="Shape 17"/>
          <p:cNvSpPr/>
          <p:nvPr/>
        </p:nvSpPr>
        <p:spPr>
          <a:xfrm>
            <a:off x="4069080" y="2377440"/>
            <a:ext cx="3977640" cy="3611880"/>
          </a:xfrm>
          <a:prstGeom prst="rect">
            <a:avLst/>
          </a:prstGeom>
          <a:solidFill>
            <a:srgbClr val="EAF3FA"/>
          </a:solidFill>
          <a:ln w="12700">
            <a:solidFill>
              <a:srgbClr val="B9D3E8"/>
            </a:solidFill>
            <a:prstDash val="solid"/>
          </a:ln>
        </p:spPr>
        <p:txBody>
          <a:bodyPr/>
          <a:lstStyle/>
          <a:p>
            <a:endParaRPr lang="en-IN"/>
          </a:p>
        </p:txBody>
      </p:sp>
      <p:sp>
        <p:nvSpPr>
          <p:cNvPr id="21" name="Shape 18"/>
          <p:cNvSpPr/>
          <p:nvPr/>
        </p:nvSpPr>
        <p:spPr>
          <a:xfrm>
            <a:off x="4069080" y="3520440"/>
            <a:ext cx="3977640" cy="2468880"/>
          </a:xfrm>
          <a:prstGeom prst="rect">
            <a:avLst/>
          </a:prstGeom>
          <a:solidFill>
            <a:srgbClr val="CFE3F2"/>
          </a:solidFill>
          <a:ln w="12700">
            <a:solidFill>
              <a:srgbClr val="CFE3F2"/>
            </a:solidFill>
            <a:prstDash val="solid"/>
          </a:ln>
        </p:spPr>
        <p:txBody>
          <a:bodyPr/>
          <a:lstStyle/>
          <a:p>
            <a:endParaRPr lang="en-IN"/>
          </a:p>
        </p:txBody>
      </p:sp>
      <p:sp>
        <p:nvSpPr>
          <p:cNvPr id="22" name="Shape 19"/>
          <p:cNvSpPr/>
          <p:nvPr/>
        </p:nvSpPr>
        <p:spPr>
          <a:xfrm>
            <a:off x="4453128" y="2633472"/>
            <a:ext cx="420624" cy="256032"/>
          </a:xfrm>
          <a:prstGeom prst="rect">
            <a:avLst/>
          </a:prstGeom>
          <a:solidFill>
            <a:srgbClr val="4A4A4A"/>
          </a:solidFill>
          <a:ln w="12700">
            <a:solidFill>
              <a:srgbClr val="4A4A4A"/>
            </a:solidFill>
            <a:prstDash val="solid"/>
          </a:ln>
        </p:spPr>
        <p:txBody>
          <a:bodyPr/>
          <a:lstStyle/>
          <a:p>
            <a:endParaRPr lang="en-IN"/>
          </a:p>
        </p:txBody>
      </p:sp>
      <p:sp>
        <p:nvSpPr>
          <p:cNvPr id="23" name="Shape 20"/>
          <p:cNvSpPr/>
          <p:nvPr/>
        </p:nvSpPr>
        <p:spPr>
          <a:xfrm>
            <a:off x="4215384" y="2688336"/>
            <a:ext cx="219456" cy="146304"/>
          </a:xfrm>
          <a:prstGeom prst="rect">
            <a:avLst/>
          </a:prstGeom>
          <a:solidFill>
            <a:srgbClr val="2E6DA4"/>
          </a:solidFill>
          <a:ln w="12700">
            <a:solidFill>
              <a:srgbClr val="2E6DA4"/>
            </a:solidFill>
            <a:prstDash val="solid"/>
          </a:ln>
        </p:spPr>
        <p:txBody>
          <a:bodyPr/>
          <a:lstStyle/>
          <a:p>
            <a:endParaRPr lang="en-IN"/>
          </a:p>
        </p:txBody>
      </p:sp>
      <p:sp>
        <p:nvSpPr>
          <p:cNvPr id="24" name="Shape 21"/>
          <p:cNvSpPr/>
          <p:nvPr/>
        </p:nvSpPr>
        <p:spPr>
          <a:xfrm>
            <a:off x="4892040" y="2688336"/>
            <a:ext cx="219456" cy="146304"/>
          </a:xfrm>
          <a:prstGeom prst="rect">
            <a:avLst/>
          </a:prstGeom>
          <a:solidFill>
            <a:srgbClr val="2E6DA4"/>
          </a:solidFill>
          <a:ln w="12700">
            <a:solidFill>
              <a:srgbClr val="2E6DA4"/>
            </a:solidFill>
            <a:prstDash val="solid"/>
          </a:ln>
        </p:spPr>
        <p:txBody>
          <a:bodyPr/>
          <a:lstStyle/>
          <a:p>
            <a:endParaRPr lang="en-IN"/>
          </a:p>
        </p:txBody>
      </p:sp>
      <p:sp>
        <p:nvSpPr>
          <p:cNvPr id="25" name="Text 22"/>
          <p:cNvSpPr txBox="1"/>
          <p:nvPr/>
        </p:nvSpPr>
        <p:spPr>
          <a:xfrm>
            <a:off x="4160520" y="2926080"/>
            <a:ext cx="1234440" cy="219456"/>
          </a:xfrm>
          <a:prstGeom prst="rect">
            <a:avLst/>
          </a:prstGeom>
          <a:noFill/>
          <a:ln/>
        </p:spPr>
        <p:txBody>
          <a:bodyPr wrap="square" lIns="0" tIns="0" rIns="0" bIns="0" rtlCol="0" anchor="ctr"/>
          <a:lstStyle/>
          <a:p>
            <a:pPr marL="0" indent="0" algn="ctr">
              <a:buNone/>
            </a:pPr>
            <a:r>
              <a:rPr lang="en-US" sz="900" b="1" dirty="0">
                <a:solidFill>
                  <a:srgbClr val="2B2B2B"/>
                </a:solidFill>
                <a:latin typeface="Calibri" pitchFamily="34" charset="0"/>
                <a:ea typeface="Calibri" pitchFamily="34" charset="-122"/>
                <a:cs typeface="Calibri" pitchFamily="34" charset="-120"/>
              </a:rPr>
              <a:t>Sentinel-1 SAR</a:t>
            </a:r>
            <a:endParaRPr lang="en-US" sz="900" dirty="0"/>
          </a:p>
        </p:txBody>
      </p:sp>
      <p:sp>
        <p:nvSpPr>
          <p:cNvPr id="26" name="Shape 23"/>
          <p:cNvSpPr/>
          <p:nvPr/>
        </p:nvSpPr>
        <p:spPr>
          <a:xfrm>
            <a:off x="4663440" y="3163824"/>
            <a:ext cx="502920" cy="685800"/>
          </a:xfrm>
          <a:prstGeom prst="line">
            <a:avLst/>
          </a:prstGeom>
          <a:noFill/>
          <a:ln w="12700">
            <a:solidFill>
              <a:srgbClr val="6B6B6B"/>
            </a:solidFill>
            <a:prstDash val="dash"/>
            <a:tailEnd type="triangle"/>
          </a:ln>
        </p:spPr>
        <p:txBody>
          <a:bodyPr/>
          <a:lstStyle/>
          <a:p>
            <a:endParaRPr lang="en-IN"/>
          </a:p>
        </p:txBody>
      </p:sp>
      <p:sp>
        <p:nvSpPr>
          <p:cNvPr id="27" name="Shape 24"/>
          <p:cNvSpPr/>
          <p:nvPr/>
        </p:nvSpPr>
        <p:spPr>
          <a:xfrm rot="-720000">
            <a:off x="4937760" y="3950208"/>
            <a:ext cx="1417320" cy="566928"/>
          </a:xfrm>
          <a:prstGeom prst="ellipse">
            <a:avLst/>
          </a:prstGeom>
          <a:solidFill>
            <a:srgbClr val="2B2B2B"/>
          </a:solidFill>
          <a:ln w="12700">
            <a:solidFill>
              <a:srgbClr val="2B2B2B"/>
            </a:solidFill>
            <a:prstDash val="solid"/>
          </a:ln>
        </p:spPr>
        <p:txBody>
          <a:bodyPr/>
          <a:lstStyle/>
          <a:p>
            <a:endParaRPr lang="en-IN"/>
          </a:p>
        </p:txBody>
      </p:sp>
      <p:sp>
        <p:nvSpPr>
          <p:cNvPr id="28" name="Text 25"/>
          <p:cNvSpPr txBox="1"/>
          <p:nvPr/>
        </p:nvSpPr>
        <p:spPr>
          <a:xfrm>
            <a:off x="4846320" y="4517136"/>
            <a:ext cx="1600200" cy="201168"/>
          </a:xfrm>
          <a:prstGeom prst="rect">
            <a:avLst/>
          </a:prstGeom>
          <a:noFill/>
          <a:ln/>
        </p:spPr>
        <p:txBody>
          <a:bodyPr wrap="square" lIns="0" tIns="0" rIns="0" bIns="0" rtlCol="0" anchor="ctr"/>
          <a:lstStyle/>
          <a:p>
            <a:pPr marL="0" indent="0" algn="ctr">
              <a:buNone/>
            </a:pPr>
            <a:r>
              <a:rPr lang="en-US" sz="900" b="1" dirty="0">
                <a:solidFill>
                  <a:srgbClr val="1F1F1F"/>
                </a:solidFill>
                <a:latin typeface="Calibri" pitchFamily="34" charset="0"/>
                <a:ea typeface="Calibri" pitchFamily="34" charset="-122"/>
                <a:cs typeface="Calibri" pitchFamily="34" charset="-120"/>
              </a:rPr>
              <a:t>detected slick</a:t>
            </a:r>
            <a:endParaRPr lang="en-US" sz="900" dirty="0"/>
          </a:p>
        </p:txBody>
      </p:sp>
      <p:sp>
        <p:nvSpPr>
          <p:cNvPr id="29" name="Shape 26"/>
          <p:cNvSpPr/>
          <p:nvPr/>
        </p:nvSpPr>
        <p:spPr>
          <a:xfrm flipV="1">
            <a:off x="5897880" y="3803904"/>
            <a:ext cx="868680" cy="347472"/>
          </a:xfrm>
          <a:prstGeom prst="line">
            <a:avLst/>
          </a:prstGeom>
          <a:noFill/>
          <a:ln w="31750">
            <a:solidFill>
              <a:srgbClr val="C0392B"/>
            </a:solidFill>
            <a:prstDash val="solid"/>
            <a:tailEnd type="triangle"/>
          </a:ln>
        </p:spPr>
        <p:txBody>
          <a:bodyPr/>
          <a:lstStyle/>
          <a:p>
            <a:endParaRPr lang="en-IN"/>
          </a:p>
        </p:txBody>
      </p:sp>
      <p:sp>
        <p:nvSpPr>
          <p:cNvPr id="30" name="Text 27"/>
          <p:cNvSpPr txBox="1"/>
          <p:nvPr/>
        </p:nvSpPr>
        <p:spPr>
          <a:xfrm>
            <a:off x="5120640" y="3364992"/>
            <a:ext cx="1463040" cy="201168"/>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backward drift</a:t>
            </a:r>
            <a:endParaRPr lang="en-US" sz="900" dirty="0"/>
          </a:p>
        </p:txBody>
      </p:sp>
      <p:sp>
        <p:nvSpPr>
          <p:cNvPr id="31" name="Shape 28"/>
          <p:cNvSpPr/>
          <p:nvPr/>
        </p:nvSpPr>
        <p:spPr>
          <a:xfrm>
            <a:off x="6400800" y="3456432"/>
            <a:ext cx="960120" cy="713232"/>
          </a:xfrm>
          <a:prstGeom prst="ellipse">
            <a:avLst/>
          </a:prstGeom>
          <a:solidFill>
            <a:srgbClr val="F1C40F"/>
          </a:solidFill>
          <a:ln w="12700">
            <a:solidFill>
              <a:srgbClr val="B7950B"/>
            </a:solidFill>
            <a:prstDash val="solid"/>
          </a:ln>
        </p:spPr>
        <p:txBody>
          <a:bodyPr/>
          <a:lstStyle/>
          <a:p>
            <a:endParaRPr lang="en-IN"/>
          </a:p>
        </p:txBody>
      </p:sp>
      <p:sp>
        <p:nvSpPr>
          <p:cNvPr id="32" name="Text 29"/>
          <p:cNvSpPr txBox="1"/>
          <p:nvPr/>
        </p:nvSpPr>
        <p:spPr>
          <a:xfrm>
            <a:off x="6400800" y="3511296"/>
            <a:ext cx="960120" cy="603504"/>
          </a:xfrm>
          <a:prstGeom prst="rect">
            <a:avLst/>
          </a:prstGeom>
          <a:noFill/>
          <a:ln/>
        </p:spPr>
        <p:txBody>
          <a:bodyPr wrap="square" lIns="0" tIns="0" rIns="0" bIns="0" rtlCol="0" anchor="ctr"/>
          <a:lstStyle/>
          <a:p>
            <a:pPr marL="0" indent="0" algn="ctr">
              <a:buNone/>
            </a:pPr>
            <a:r>
              <a:rPr lang="en-US" sz="900" b="1" dirty="0">
                <a:solidFill>
                  <a:srgbClr val="5B4708"/>
                </a:solidFill>
                <a:latin typeface="Calibri" pitchFamily="34" charset="0"/>
                <a:ea typeface="Calibri" pitchFamily="34" charset="-122"/>
                <a:cs typeface="Calibri" pitchFamily="34" charset="-120"/>
              </a:rPr>
              <a:t>release</a:t>
            </a:r>
            <a:endParaRPr lang="en-US" sz="900" dirty="0"/>
          </a:p>
          <a:p>
            <a:pPr marL="0" indent="0" algn="ctr">
              <a:buNone/>
            </a:pPr>
            <a:r>
              <a:rPr lang="en-US" sz="900" b="1" dirty="0">
                <a:solidFill>
                  <a:srgbClr val="5B4708"/>
                </a:solidFill>
                <a:latin typeface="Calibri" pitchFamily="34" charset="0"/>
                <a:ea typeface="Calibri" pitchFamily="34" charset="-122"/>
                <a:cs typeface="Calibri" pitchFamily="34" charset="-120"/>
              </a:rPr>
              <a:t>point ±</a:t>
            </a:r>
            <a:endParaRPr lang="en-US" sz="900" dirty="0"/>
          </a:p>
        </p:txBody>
      </p:sp>
      <p:sp>
        <p:nvSpPr>
          <p:cNvPr id="33" name="Shape 30"/>
          <p:cNvSpPr/>
          <p:nvPr/>
        </p:nvSpPr>
        <p:spPr>
          <a:xfrm flipV="1">
            <a:off x="4480560" y="5166360"/>
            <a:ext cx="566928" cy="219456"/>
          </a:xfrm>
          <a:prstGeom prst="trapezoid">
            <a:avLst/>
          </a:prstGeom>
          <a:solidFill>
            <a:srgbClr val="34495E"/>
          </a:solidFill>
          <a:ln w="9525">
            <a:solidFill>
              <a:srgbClr val="1B2631"/>
            </a:solidFill>
            <a:prstDash val="solid"/>
          </a:ln>
        </p:spPr>
        <p:txBody>
          <a:bodyPr/>
          <a:lstStyle/>
          <a:p>
            <a:endParaRPr lang="en-IN"/>
          </a:p>
        </p:txBody>
      </p:sp>
      <p:sp>
        <p:nvSpPr>
          <p:cNvPr id="34" name="Shape 31"/>
          <p:cNvSpPr/>
          <p:nvPr/>
        </p:nvSpPr>
        <p:spPr>
          <a:xfrm flipV="1">
            <a:off x="5669280" y="5394960"/>
            <a:ext cx="566928" cy="219456"/>
          </a:xfrm>
          <a:prstGeom prst="trapezoid">
            <a:avLst/>
          </a:prstGeom>
          <a:solidFill>
            <a:srgbClr val="34495E"/>
          </a:solidFill>
          <a:ln w="9525">
            <a:solidFill>
              <a:srgbClr val="1B2631"/>
            </a:solidFill>
            <a:prstDash val="solid"/>
          </a:ln>
        </p:spPr>
        <p:txBody>
          <a:bodyPr/>
          <a:lstStyle/>
          <a:p>
            <a:endParaRPr lang="en-IN"/>
          </a:p>
        </p:txBody>
      </p:sp>
      <p:sp>
        <p:nvSpPr>
          <p:cNvPr id="35" name="Shape 32"/>
          <p:cNvSpPr/>
          <p:nvPr/>
        </p:nvSpPr>
        <p:spPr>
          <a:xfrm flipV="1">
            <a:off x="6858000" y="5102352"/>
            <a:ext cx="566928" cy="219456"/>
          </a:xfrm>
          <a:prstGeom prst="trapezoid">
            <a:avLst/>
          </a:prstGeom>
          <a:solidFill>
            <a:srgbClr val="C0392B"/>
          </a:solidFill>
          <a:ln w="9525">
            <a:solidFill>
              <a:srgbClr val="1B2631"/>
            </a:solidFill>
            <a:prstDash val="solid"/>
          </a:ln>
        </p:spPr>
        <p:txBody>
          <a:bodyPr/>
          <a:lstStyle/>
          <a:p>
            <a:endParaRPr lang="en-IN"/>
          </a:p>
        </p:txBody>
      </p:sp>
      <p:sp>
        <p:nvSpPr>
          <p:cNvPr id="36" name="Text 33"/>
          <p:cNvSpPr txBox="1"/>
          <p:nvPr/>
        </p:nvSpPr>
        <p:spPr>
          <a:xfrm>
            <a:off x="4251960" y="5669280"/>
            <a:ext cx="3611880" cy="219456"/>
          </a:xfrm>
          <a:prstGeom prst="rect">
            <a:avLst/>
          </a:prstGeom>
          <a:noFill/>
          <a:ln/>
        </p:spPr>
        <p:txBody>
          <a:bodyPr wrap="square" lIns="0" tIns="0" rIns="0" bIns="0" rtlCol="0" anchor="ctr"/>
          <a:lstStyle/>
          <a:p>
            <a:pPr marL="0" indent="0" algn="ctr">
              <a:buNone/>
            </a:pPr>
            <a:r>
              <a:rPr lang="en-US" sz="950" b="1" dirty="0">
                <a:solidFill>
                  <a:srgbClr val="1F1F1F"/>
                </a:solidFill>
                <a:latin typeface="Calibri" pitchFamily="34" charset="0"/>
                <a:ea typeface="Calibri" pitchFamily="34" charset="-122"/>
                <a:cs typeface="Calibri" pitchFamily="34" charset="-120"/>
              </a:rPr>
              <a:t>AIS candidate tracks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92608" y="201168"/>
            <a:ext cx="1554480" cy="603504"/>
          </a:xfrm>
          <a:prstGeom prst="ellipse">
            <a:avLst/>
          </a:prstGeom>
          <a:solidFill>
            <a:srgbClr val="FFFFFF"/>
          </a:solidFill>
          <a:ln w="12700">
            <a:solidFill>
              <a:srgbClr val="5B4B8A"/>
            </a:solidFill>
            <a:prstDash val="solid"/>
          </a:ln>
        </p:spPr>
        <p:txBody>
          <a:bodyPr/>
          <a:lstStyle/>
          <a:p>
            <a:endParaRPr lang="en-IN"/>
          </a:p>
        </p:txBody>
      </p:sp>
      <p:sp>
        <p:nvSpPr>
          <p:cNvPr id="3" name="Text 1"/>
          <p:cNvSpPr txBox="1"/>
          <p:nvPr/>
        </p:nvSpPr>
        <p:spPr>
          <a:xfrm>
            <a:off x="292608" y="201168"/>
            <a:ext cx="1554480" cy="603504"/>
          </a:xfrm>
          <a:prstGeom prst="rect">
            <a:avLst/>
          </a:prstGeom>
          <a:noFill/>
          <a:ln/>
        </p:spPr>
        <p:txBody>
          <a:bodyPr wrap="square" lIns="0" tIns="0" rIns="0" bIns="0"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Evinco</a:t>
            </a:r>
            <a:endParaRPr lang="en-US" sz="1600" dirty="0"/>
          </a:p>
        </p:txBody>
      </p:sp>
      <p:sp>
        <p:nvSpPr>
          <p:cNvPr id="4" name="Text 2"/>
          <p:cNvSpPr txBox="1"/>
          <p:nvPr/>
        </p:nvSpPr>
        <p:spPr>
          <a:xfrm>
            <a:off x="1965960" y="146304"/>
            <a:ext cx="8138160" cy="731520"/>
          </a:xfrm>
          <a:prstGeom prst="rect">
            <a:avLst/>
          </a:prstGeom>
          <a:noFill/>
          <a:ln/>
        </p:spPr>
        <p:txBody>
          <a:bodyPr wrap="square" lIns="0" tIns="0" rIns="0" bIns="0" rtlCol="0" anchor="ctr"/>
          <a:lstStyle/>
          <a:p>
            <a:pPr marL="0" indent="0" algn="ctr">
              <a:buNone/>
            </a:pPr>
            <a:r>
              <a:rPr lang="en-US" sz="3200" b="1" dirty="0">
                <a:solidFill>
                  <a:srgbClr val="000000"/>
                </a:solidFill>
                <a:latin typeface="Bookman Old Style" pitchFamily="34" charset="0"/>
                <a:ea typeface="Bookman Old Style" pitchFamily="34" charset="-122"/>
                <a:cs typeface="Bookman Old Style" pitchFamily="34" charset="-120"/>
              </a:rPr>
              <a:t>TECHNICAL APPROACH</a:t>
            </a:r>
            <a:endParaRPr lang="en-US" sz="3200" dirty="0"/>
          </a:p>
        </p:txBody>
      </p:sp>
      <p:pic>
        <p:nvPicPr>
          <p:cNvPr id="5" name="Image 0" descr="preencoded.png"/>
          <p:cNvPicPr>
            <a:picLocks noChangeAspect="1"/>
          </p:cNvPicPr>
          <p:nvPr/>
        </p:nvPicPr>
        <p:blipFill>
          <a:blip r:embed="rId3"/>
          <a:stretch>
            <a:fillRect/>
          </a:stretch>
        </p:blipFill>
        <p:spPr>
          <a:xfrm>
            <a:off x="10195560" y="201168"/>
            <a:ext cx="1691640" cy="813816"/>
          </a:xfrm>
          <a:prstGeom prst="rect">
            <a:avLst/>
          </a:prstGeom>
        </p:spPr>
      </p:pic>
      <p:sp>
        <p:nvSpPr>
          <p:cNvPr id="6" name="Shape 3"/>
          <p:cNvSpPr/>
          <p:nvPr/>
        </p:nvSpPr>
        <p:spPr>
          <a:xfrm>
            <a:off x="0" y="6455664"/>
            <a:ext cx="12188952" cy="402336"/>
          </a:xfrm>
          <a:prstGeom prst="rect">
            <a:avLst/>
          </a:prstGeom>
          <a:solidFill>
            <a:srgbClr val="0171C1"/>
          </a:solidFill>
          <a:ln/>
        </p:spPr>
        <p:txBody>
          <a:bodyPr/>
          <a:lstStyle/>
          <a:p>
            <a:endParaRPr lang="en-IN"/>
          </a:p>
        </p:txBody>
      </p:sp>
      <p:sp>
        <p:nvSpPr>
          <p:cNvPr id="7" name="Text 4"/>
          <p:cNvSpPr txBox="1"/>
          <p:nvPr/>
        </p:nvSpPr>
        <p:spPr>
          <a:xfrm>
            <a:off x="11274552" y="6455664"/>
            <a:ext cx="685800" cy="402336"/>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8" name="Text 5"/>
          <p:cNvSpPr txBox="1"/>
          <p:nvPr/>
        </p:nvSpPr>
        <p:spPr>
          <a:xfrm>
            <a:off x="384048" y="1188720"/>
            <a:ext cx="2743200" cy="36576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Technologies :</a:t>
            </a:r>
            <a:endParaRPr lang="en-US" sz="2000" dirty="0"/>
          </a:p>
        </p:txBody>
      </p:sp>
      <p:sp>
        <p:nvSpPr>
          <p:cNvPr id="9" name="Text 6"/>
          <p:cNvSpPr txBox="1"/>
          <p:nvPr/>
        </p:nvSpPr>
        <p:spPr>
          <a:xfrm>
            <a:off x="438912" y="1627632"/>
            <a:ext cx="3017520" cy="292608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Python · Django REST · Next.js / React console</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PyTorch — U-Net + SegFormer-B0 ensemble</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Sentinel-1 C-band SAR (GeoTIFF), Pillow / OpenCV</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NumPy Monte Carlo Lagrangian advection</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Open-Meteo hourly winds &amp; surface currents</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AIS vessel tracks, Bayesian likelihood scoring</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PostgreSQL · SHA-256 manifest sealing</a:t>
            </a:r>
            <a:endParaRPr lang="en-US" sz="1150" dirty="0"/>
          </a:p>
          <a:p>
            <a:pPr marL="342900" indent="-342900">
              <a:lnSpc>
                <a:spcPts val="1500"/>
              </a:lnSpc>
              <a:spcAft>
                <a:spcPts val="800"/>
              </a:spcAft>
              <a:buSzPct val="100000"/>
              <a:buChar char="•"/>
            </a:pPr>
            <a:r>
              <a:rPr lang="en-US" sz="1150" dirty="0">
                <a:solidFill>
                  <a:srgbClr val="1A1A1A"/>
                </a:solidFill>
                <a:latin typeface="Calibri" pitchFamily="34" charset="0"/>
                <a:ea typeface="Calibri" pitchFamily="34" charset="-122"/>
                <a:cs typeface="Calibri" pitchFamily="34" charset="-120"/>
              </a:rPr>
              <a:t>Docker, deployed on Microsoft Azure</a:t>
            </a:r>
            <a:endParaRPr lang="en-US" sz="1150" dirty="0"/>
          </a:p>
        </p:txBody>
      </p:sp>
      <p:sp>
        <p:nvSpPr>
          <p:cNvPr id="10" name="Shape 7"/>
          <p:cNvSpPr/>
          <p:nvPr/>
        </p:nvSpPr>
        <p:spPr>
          <a:xfrm>
            <a:off x="3703320" y="1207008"/>
            <a:ext cx="3063240" cy="658368"/>
          </a:xfrm>
          <a:prstGeom prst="roundRect">
            <a:avLst>
              <a:gd name="adj" fmla="val 13889"/>
            </a:avLst>
          </a:prstGeom>
          <a:solidFill>
            <a:srgbClr val="BFE3F2"/>
          </a:solidFill>
          <a:ln w="9525">
            <a:solidFill>
              <a:srgbClr val="8A8A8A"/>
            </a:solidFill>
            <a:prstDash val="solid"/>
          </a:ln>
        </p:spPr>
        <p:txBody>
          <a:bodyPr/>
          <a:lstStyle/>
          <a:p>
            <a:endParaRPr lang="en-IN"/>
          </a:p>
        </p:txBody>
      </p:sp>
      <p:sp>
        <p:nvSpPr>
          <p:cNvPr id="11" name="Text 8"/>
          <p:cNvSpPr txBox="1"/>
          <p:nvPr/>
        </p:nvSpPr>
        <p:spPr>
          <a:xfrm>
            <a:off x="3813048" y="1243584"/>
            <a:ext cx="2843784" cy="585216"/>
          </a:xfrm>
          <a:prstGeom prst="rect">
            <a:avLst/>
          </a:prstGeom>
          <a:noFill/>
          <a:ln/>
        </p:spPr>
        <p:txBody>
          <a:bodyPr wrap="square" lIns="0" tIns="0" rIns="0" bIns="0" rtlCol="0" anchor="ctr"/>
          <a:lstStyle/>
          <a:p>
            <a:pPr marL="0" indent="0">
              <a:lnSpc>
                <a:spcPts val="1300"/>
              </a:lnSpc>
              <a:buNone/>
            </a:pPr>
            <a:r>
              <a:rPr lang="en-US" sz="1100" b="1" dirty="0">
                <a:solidFill>
                  <a:srgbClr val="141414"/>
                </a:solidFill>
                <a:latin typeface="Calibri" pitchFamily="34" charset="0"/>
                <a:ea typeface="Calibri" pitchFamily="34" charset="-122"/>
                <a:cs typeface="Calibri" pitchFamily="34" charset="-120"/>
              </a:rPr>
              <a:t>Step I: </a:t>
            </a:r>
            <a:r>
              <a:rPr lang="en-US" sz="1100" dirty="0">
                <a:solidFill>
                  <a:srgbClr val="141414"/>
                </a:solidFill>
                <a:latin typeface="Calibri" pitchFamily="34" charset="0"/>
                <a:ea typeface="Calibri" pitchFamily="34" charset="-122"/>
                <a:cs typeface="Calibri" pitchFamily="34" charset="-120"/>
              </a:rPr>
              <a:t>Ingest &amp; georeference the Sentinel-1 SAR scene</a:t>
            </a:r>
            <a:endParaRPr lang="en-US" sz="1100" dirty="0"/>
          </a:p>
        </p:txBody>
      </p:sp>
      <p:sp>
        <p:nvSpPr>
          <p:cNvPr id="12" name="Shape 9"/>
          <p:cNvSpPr/>
          <p:nvPr/>
        </p:nvSpPr>
        <p:spPr>
          <a:xfrm>
            <a:off x="5234940" y="1865376"/>
            <a:ext cx="0" cy="274320"/>
          </a:xfrm>
          <a:prstGeom prst="line">
            <a:avLst/>
          </a:prstGeom>
          <a:noFill/>
          <a:ln w="19050">
            <a:solidFill>
              <a:srgbClr val="555555"/>
            </a:solidFill>
            <a:prstDash val="solid"/>
            <a:tailEnd type="triangle"/>
          </a:ln>
        </p:spPr>
        <p:txBody>
          <a:bodyPr/>
          <a:lstStyle/>
          <a:p>
            <a:endParaRPr lang="en-IN"/>
          </a:p>
        </p:txBody>
      </p:sp>
      <p:sp>
        <p:nvSpPr>
          <p:cNvPr id="13" name="Shape 10"/>
          <p:cNvSpPr/>
          <p:nvPr/>
        </p:nvSpPr>
        <p:spPr>
          <a:xfrm>
            <a:off x="3703320" y="2139696"/>
            <a:ext cx="3063240" cy="658368"/>
          </a:xfrm>
          <a:prstGeom prst="roundRect">
            <a:avLst>
              <a:gd name="adj" fmla="val 13889"/>
            </a:avLst>
          </a:prstGeom>
          <a:solidFill>
            <a:srgbClr val="C9E6C9"/>
          </a:solidFill>
          <a:ln w="9525">
            <a:solidFill>
              <a:srgbClr val="8A8A8A"/>
            </a:solidFill>
            <a:prstDash val="solid"/>
          </a:ln>
        </p:spPr>
        <p:txBody>
          <a:bodyPr/>
          <a:lstStyle/>
          <a:p>
            <a:endParaRPr lang="en-IN"/>
          </a:p>
        </p:txBody>
      </p:sp>
      <p:sp>
        <p:nvSpPr>
          <p:cNvPr id="14" name="Text 11"/>
          <p:cNvSpPr txBox="1"/>
          <p:nvPr/>
        </p:nvSpPr>
        <p:spPr>
          <a:xfrm>
            <a:off x="3813048" y="2176272"/>
            <a:ext cx="2843784" cy="585216"/>
          </a:xfrm>
          <a:prstGeom prst="rect">
            <a:avLst/>
          </a:prstGeom>
          <a:noFill/>
          <a:ln/>
        </p:spPr>
        <p:txBody>
          <a:bodyPr wrap="square" lIns="0" tIns="0" rIns="0" bIns="0" rtlCol="0" anchor="ctr"/>
          <a:lstStyle/>
          <a:p>
            <a:pPr marL="0" indent="0">
              <a:lnSpc>
                <a:spcPts val="1300"/>
              </a:lnSpc>
              <a:buNone/>
            </a:pPr>
            <a:r>
              <a:rPr lang="en-US" sz="1100" b="1" dirty="0">
                <a:solidFill>
                  <a:srgbClr val="141414"/>
                </a:solidFill>
                <a:latin typeface="Calibri" pitchFamily="34" charset="0"/>
                <a:ea typeface="Calibri" pitchFamily="34" charset="-122"/>
                <a:cs typeface="Calibri" pitchFamily="34" charset="-120"/>
              </a:rPr>
              <a:t>Step II: </a:t>
            </a:r>
            <a:r>
              <a:rPr lang="en-US" sz="1100" dirty="0">
                <a:solidFill>
                  <a:srgbClr val="141414"/>
                </a:solidFill>
                <a:latin typeface="Calibri" pitchFamily="34" charset="0"/>
                <a:ea typeface="Calibri" pitchFamily="34" charset="-122"/>
                <a:cs typeface="Calibri" pitchFamily="34" charset="-120"/>
              </a:rPr>
              <a:t>Segment dark regions — two-model deep ensemble</a:t>
            </a:r>
            <a:endParaRPr lang="en-US" sz="1100" dirty="0"/>
          </a:p>
        </p:txBody>
      </p:sp>
      <p:sp>
        <p:nvSpPr>
          <p:cNvPr id="15" name="Shape 12"/>
          <p:cNvSpPr/>
          <p:nvPr/>
        </p:nvSpPr>
        <p:spPr>
          <a:xfrm>
            <a:off x="5234940" y="2798064"/>
            <a:ext cx="0" cy="274320"/>
          </a:xfrm>
          <a:prstGeom prst="line">
            <a:avLst/>
          </a:prstGeom>
          <a:noFill/>
          <a:ln w="19050">
            <a:solidFill>
              <a:srgbClr val="555555"/>
            </a:solidFill>
            <a:prstDash val="solid"/>
            <a:tailEnd type="triangle"/>
          </a:ln>
        </p:spPr>
        <p:txBody>
          <a:bodyPr/>
          <a:lstStyle/>
          <a:p>
            <a:endParaRPr lang="en-IN"/>
          </a:p>
        </p:txBody>
      </p:sp>
      <p:sp>
        <p:nvSpPr>
          <p:cNvPr id="16" name="Shape 13"/>
          <p:cNvSpPr/>
          <p:nvPr/>
        </p:nvSpPr>
        <p:spPr>
          <a:xfrm>
            <a:off x="3703320" y="3072384"/>
            <a:ext cx="3063240" cy="658368"/>
          </a:xfrm>
          <a:prstGeom prst="roundRect">
            <a:avLst>
              <a:gd name="adj" fmla="val 13889"/>
            </a:avLst>
          </a:prstGeom>
          <a:solidFill>
            <a:srgbClr val="F5B8B4"/>
          </a:solidFill>
          <a:ln w="9525">
            <a:solidFill>
              <a:srgbClr val="8A8A8A"/>
            </a:solidFill>
            <a:prstDash val="solid"/>
          </a:ln>
        </p:spPr>
        <p:txBody>
          <a:bodyPr/>
          <a:lstStyle/>
          <a:p>
            <a:endParaRPr lang="en-IN"/>
          </a:p>
        </p:txBody>
      </p:sp>
      <p:sp>
        <p:nvSpPr>
          <p:cNvPr id="17" name="Text 14"/>
          <p:cNvSpPr txBox="1"/>
          <p:nvPr/>
        </p:nvSpPr>
        <p:spPr>
          <a:xfrm>
            <a:off x="3813048" y="3108960"/>
            <a:ext cx="2843784" cy="585216"/>
          </a:xfrm>
          <a:prstGeom prst="rect">
            <a:avLst/>
          </a:prstGeom>
          <a:noFill/>
          <a:ln/>
        </p:spPr>
        <p:txBody>
          <a:bodyPr wrap="square" lIns="0" tIns="0" rIns="0" bIns="0" rtlCol="0" anchor="ctr"/>
          <a:lstStyle/>
          <a:p>
            <a:pPr marL="0" indent="0">
              <a:lnSpc>
                <a:spcPts val="1300"/>
              </a:lnSpc>
              <a:buNone/>
            </a:pPr>
            <a:r>
              <a:rPr lang="en-US" sz="1100" b="1" dirty="0">
                <a:solidFill>
                  <a:srgbClr val="141414"/>
                </a:solidFill>
                <a:latin typeface="Calibri" pitchFamily="34" charset="0"/>
                <a:ea typeface="Calibri" pitchFamily="34" charset="-122"/>
                <a:cs typeface="Calibri" pitchFamily="34" charset="-120"/>
              </a:rPr>
              <a:t>Step III: </a:t>
            </a:r>
            <a:r>
              <a:rPr lang="en-US" sz="1100" dirty="0">
                <a:solidFill>
                  <a:srgbClr val="141414"/>
                </a:solidFill>
                <a:latin typeface="Calibri" pitchFamily="34" charset="0"/>
                <a:ea typeface="Calibri" pitchFamily="34" charset="-122"/>
                <a:cs typeface="Calibri" pitchFamily="34" charset="-120"/>
              </a:rPr>
              <a:t>Look-alike screening — physics weighed in log-odds</a:t>
            </a:r>
            <a:endParaRPr lang="en-US" sz="1100" dirty="0"/>
          </a:p>
        </p:txBody>
      </p:sp>
      <p:sp>
        <p:nvSpPr>
          <p:cNvPr id="18" name="Shape 15"/>
          <p:cNvSpPr/>
          <p:nvPr/>
        </p:nvSpPr>
        <p:spPr>
          <a:xfrm>
            <a:off x="5234940" y="3730752"/>
            <a:ext cx="0" cy="274320"/>
          </a:xfrm>
          <a:prstGeom prst="line">
            <a:avLst/>
          </a:prstGeom>
          <a:noFill/>
          <a:ln w="19050">
            <a:solidFill>
              <a:srgbClr val="555555"/>
            </a:solidFill>
            <a:prstDash val="solid"/>
            <a:tailEnd type="triangle"/>
          </a:ln>
        </p:spPr>
        <p:txBody>
          <a:bodyPr/>
          <a:lstStyle/>
          <a:p>
            <a:endParaRPr lang="en-IN"/>
          </a:p>
        </p:txBody>
      </p:sp>
      <p:sp>
        <p:nvSpPr>
          <p:cNvPr id="19" name="Shape 16"/>
          <p:cNvSpPr/>
          <p:nvPr/>
        </p:nvSpPr>
        <p:spPr>
          <a:xfrm>
            <a:off x="3703320" y="4005072"/>
            <a:ext cx="3063240" cy="658368"/>
          </a:xfrm>
          <a:prstGeom prst="roundRect">
            <a:avLst>
              <a:gd name="adj" fmla="val 13889"/>
            </a:avLst>
          </a:prstGeom>
          <a:solidFill>
            <a:srgbClr val="FBD38A"/>
          </a:solidFill>
          <a:ln w="9525">
            <a:solidFill>
              <a:srgbClr val="8A8A8A"/>
            </a:solidFill>
            <a:prstDash val="solid"/>
          </a:ln>
        </p:spPr>
        <p:txBody>
          <a:bodyPr/>
          <a:lstStyle/>
          <a:p>
            <a:endParaRPr lang="en-IN"/>
          </a:p>
        </p:txBody>
      </p:sp>
      <p:sp>
        <p:nvSpPr>
          <p:cNvPr id="20" name="Text 17"/>
          <p:cNvSpPr txBox="1"/>
          <p:nvPr/>
        </p:nvSpPr>
        <p:spPr>
          <a:xfrm>
            <a:off x="3813048" y="4041648"/>
            <a:ext cx="2843784" cy="585216"/>
          </a:xfrm>
          <a:prstGeom prst="rect">
            <a:avLst/>
          </a:prstGeom>
          <a:noFill/>
          <a:ln/>
        </p:spPr>
        <p:txBody>
          <a:bodyPr wrap="square" lIns="0" tIns="0" rIns="0" bIns="0" rtlCol="0" anchor="ctr"/>
          <a:lstStyle/>
          <a:p>
            <a:pPr marL="0" indent="0">
              <a:lnSpc>
                <a:spcPts val="1300"/>
              </a:lnSpc>
              <a:buNone/>
            </a:pPr>
            <a:r>
              <a:rPr lang="en-US" sz="1100" b="1" dirty="0">
                <a:solidFill>
                  <a:srgbClr val="141414"/>
                </a:solidFill>
                <a:latin typeface="Calibri" pitchFamily="34" charset="0"/>
                <a:ea typeface="Calibri" pitchFamily="34" charset="-122"/>
                <a:cs typeface="Calibri" pitchFamily="34" charset="-120"/>
              </a:rPr>
              <a:t>Step IV: </a:t>
            </a:r>
            <a:r>
              <a:rPr lang="en-US" sz="1100" dirty="0">
                <a:solidFill>
                  <a:srgbClr val="141414"/>
                </a:solidFill>
                <a:latin typeface="Calibri" pitchFamily="34" charset="0"/>
                <a:ea typeface="Calibri" pitchFamily="34" charset="-122"/>
                <a:cs typeface="Calibri" pitchFamily="34" charset="-120"/>
              </a:rPr>
              <a:t>Backward + forward drift — 500 particles, release ± radii</a:t>
            </a:r>
            <a:endParaRPr lang="en-US" sz="1100" dirty="0"/>
          </a:p>
        </p:txBody>
      </p:sp>
      <p:sp>
        <p:nvSpPr>
          <p:cNvPr id="21" name="Shape 18"/>
          <p:cNvSpPr/>
          <p:nvPr/>
        </p:nvSpPr>
        <p:spPr>
          <a:xfrm>
            <a:off x="5234940" y="4663440"/>
            <a:ext cx="0" cy="274320"/>
          </a:xfrm>
          <a:prstGeom prst="line">
            <a:avLst/>
          </a:prstGeom>
          <a:noFill/>
          <a:ln w="19050">
            <a:solidFill>
              <a:srgbClr val="555555"/>
            </a:solidFill>
            <a:prstDash val="solid"/>
            <a:tailEnd type="triangle"/>
          </a:ln>
        </p:spPr>
        <p:txBody>
          <a:bodyPr/>
          <a:lstStyle/>
          <a:p>
            <a:endParaRPr lang="en-IN"/>
          </a:p>
        </p:txBody>
      </p:sp>
      <p:sp>
        <p:nvSpPr>
          <p:cNvPr id="22" name="Shape 19"/>
          <p:cNvSpPr/>
          <p:nvPr/>
        </p:nvSpPr>
        <p:spPr>
          <a:xfrm>
            <a:off x="3703320" y="4937760"/>
            <a:ext cx="3063240" cy="658368"/>
          </a:xfrm>
          <a:prstGeom prst="roundRect">
            <a:avLst>
              <a:gd name="adj" fmla="val 13889"/>
            </a:avLst>
          </a:prstGeom>
          <a:solidFill>
            <a:srgbClr val="D9C7EE"/>
          </a:solidFill>
          <a:ln w="9525">
            <a:solidFill>
              <a:srgbClr val="8A8A8A"/>
            </a:solidFill>
            <a:prstDash val="solid"/>
          </a:ln>
        </p:spPr>
        <p:txBody>
          <a:bodyPr/>
          <a:lstStyle/>
          <a:p>
            <a:endParaRPr lang="en-IN"/>
          </a:p>
        </p:txBody>
      </p:sp>
      <p:sp>
        <p:nvSpPr>
          <p:cNvPr id="23" name="Text 20"/>
          <p:cNvSpPr txBox="1"/>
          <p:nvPr/>
        </p:nvSpPr>
        <p:spPr>
          <a:xfrm>
            <a:off x="3813048" y="4974336"/>
            <a:ext cx="2843784" cy="585216"/>
          </a:xfrm>
          <a:prstGeom prst="rect">
            <a:avLst/>
          </a:prstGeom>
          <a:noFill/>
          <a:ln/>
        </p:spPr>
        <p:txBody>
          <a:bodyPr wrap="square" lIns="0" tIns="0" rIns="0" bIns="0" rtlCol="0" anchor="ctr"/>
          <a:lstStyle/>
          <a:p>
            <a:pPr marL="0" indent="0">
              <a:lnSpc>
                <a:spcPts val="1300"/>
              </a:lnSpc>
              <a:buNone/>
            </a:pPr>
            <a:r>
              <a:rPr lang="en-US" sz="1100" b="1" dirty="0">
                <a:solidFill>
                  <a:srgbClr val="141414"/>
                </a:solidFill>
                <a:latin typeface="Calibri" pitchFamily="34" charset="0"/>
                <a:ea typeface="Calibri" pitchFamily="34" charset="-122"/>
                <a:cs typeface="Calibri" pitchFamily="34" charset="-120"/>
              </a:rPr>
              <a:t>Step V: </a:t>
            </a:r>
            <a:r>
              <a:rPr lang="en-US" sz="1100" dirty="0">
                <a:solidFill>
                  <a:srgbClr val="141414"/>
                </a:solidFill>
                <a:latin typeface="Calibri" pitchFamily="34" charset="0"/>
                <a:ea typeface="Calibri" pitchFamily="34" charset="-122"/>
                <a:cs typeface="Calibri" pitchFamily="34" charset="-120"/>
              </a:rPr>
              <a:t>Bayesian AIS attribution, self-audit, sealed dossier</a:t>
            </a:r>
            <a:endParaRPr lang="en-US" sz="1100" dirty="0"/>
          </a:p>
        </p:txBody>
      </p:sp>
      <p:sp>
        <p:nvSpPr>
          <p:cNvPr id="24" name="Shape 21"/>
          <p:cNvSpPr/>
          <p:nvPr/>
        </p:nvSpPr>
        <p:spPr>
          <a:xfrm>
            <a:off x="7178040" y="3154680"/>
            <a:ext cx="1207008" cy="786384"/>
          </a:xfrm>
          <a:prstGeom prst="ellipse">
            <a:avLst/>
          </a:prstGeom>
          <a:solidFill>
            <a:srgbClr val="0171C1"/>
          </a:solidFill>
          <a:ln w="12700">
            <a:solidFill>
              <a:srgbClr val="0171C1"/>
            </a:solidFill>
            <a:prstDash val="solid"/>
          </a:ln>
        </p:spPr>
        <p:txBody>
          <a:bodyPr/>
          <a:lstStyle/>
          <a:p>
            <a:endParaRPr lang="en-IN"/>
          </a:p>
        </p:txBody>
      </p:sp>
      <p:sp>
        <p:nvSpPr>
          <p:cNvPr id="25" name="Text 22"/>
          <p:cNvSpPr txBox="1"/>
          <p:nvPr/>
        </p:nvSpPr>
        <p:spPr>
          <a:xfrm>
            <a:off x="7178040" y="3154680"/>
            <a:ext cx="1207008"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p>
        </p:txBody>
      </p:sp>
      <p:sp>
        <p:nvSpPr>
          <p:cNvPr id="26" name="Shape 23"/>
          <p:cNvSpPr/>
          <p:nvPr/>
        </p:nvSpPr>
        <p:spPr>
          <a:xfrm>
            <a:off x="8613648" y="1243584"/>
            <a:ext cx="1481328" cy="530352"/>
          </a:xfrm>
          <a:prstGeom prst="ellipse">
            <a:avLst/>
          </a:prstGeom>
          <a:solidFill>
            <a:srgbClr val="0171C1"/>
          </a:solidFill>
          <a:ln w="12700">
            <a:solidFill>
              <a:srgbClr val="0171C1"/>
            </a:solidFill>
            <a:prstDash val="solid"/>
          </a:ln>
        </p:spPr>
        <p:txBody>
          <a:bodyPr/>
          <a:lstStyle/>
          <a:p>
            <a:endParaRPr lang="en-IN"/>
          </a:p>
        </p:txBody>
      </p:sp>
      <p:sp>
        <p:nvSpPr>
          <p:cNvPr id="27" name="Text 24"/>
          <p:cNvSpPr txBox="1"/>
          <p:nvPr/>
        </p:nvSpPr>
        <p:spPr>
          <a:xfrm>
            <a:off x="8613648" y="1243584"/>
            <a:ext cx="1481328" cy="53035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Attributed</a:t>
            </a:r>
            <a:endParaRPr lang="en-US" sz="950" dirty="0"/>
          </a:p>
        </p:txBody>
      </p:sp>
      <p:sp>
        <p:nvSpPr>
          <p:cNvPr id="28" name="Shape 25"/>
          <p:cNvSpPr/>
          <p:nvPr/>
        </p:nvSpPr>
        <p:spPr>
          <a:xfrm>
            <a:off x="10195560" y="1170432"/>
            <a:ext cx="1691640" cy="694944"/>
          </a:xfrm>
          <a:prstGeom prst="roundRect">
            <a:avLst>
              <a:gd name="adj" fmla="val 10526"/>
            </a:avLst>
          </a:prstGeom>
          <a:solidFill>
            <a:srgbClr val="F4F6F7"/>
          </a:solidFill>
          <a:ln w="15875">
            <a:solidFill>
              <a:srgbClr val="1E8449"/>
            </a:solidFill>
            <a:prstDash val="solid"/>
          </a:ln>
        </p:spPr>
        <p:txBody>
          <a:bodyPr/>
          <a:lstStyle/>
          <a:p>
            <a:endParaRPr lang="en-IN"/>
          </a:p>
        </p:txBody>
      </p:sp>
      <p:sp>
        <p:nvSpPr>
          <p:cNvPr id="29" name="Text 26"/>
          <p:cNvSpPr txBox="1"/>
          <p:nvPr/>
        </p:nvSpPr>
        <p:spPr>
          <a:xfrm>
            <a:off x="10277856" y="1207008"/>
            <a:ext cx="1527048" cy="621792"/>
          </a:xfrm>
          <a:prstGeom prst="rect">
            <a:avLst/>
          </a:prstGeom>
          <a:noFill/>
          <a:ln/>
        </p:spPr>
        <p:txBody>
          <a:bodyPr wrap="square" lIns="0" tIns="0" rIns="0" bIns="0" rtlCol="0" anchor="ctr"/>
          <a:lstStyle/>
          <a:p>
            <a:pPr marL="0" indent="0">
              <a:lnSpc>
                <a:spcPts val="1000"/>
              </a:lnSpc>
              <a:buNone/>
            </a:pPr>
            <a:r>
              <a:rPr lang="en-US" sz="850" dirty="0">
                <a:solidFill>
                  <a:srgbClr val="1F1F1F"/>
                </a:solidFill>
                <a:latin typeface="Calibri" pitchFamily="34" charset="0"/>
                <a:ea typeface="Calibri" pitchFamily="34" charset="-122"/>
                <a:cs typeface="Calibri" pitchFamily="34" charset="-120"/>
              </a:rPr>
              <a:t>A single track explains the release in space and time — named, with posterior and audit.</a:t>
            </a:r>
            <a:endParaRPr lang="en-US" sz="850" dirty="0"/>
          </a:p>
        </p:txBody>
      </p:sp>
      <p:sp>
        <p:nvSpPr>
          <p:cNvPr id="30" name="Shape 27"/>
          <p:cNvSpPr/>
          <p:nvPr/>
        </p:nvSpPr>
        <p:spPr>
          <a:xfrm>
            <a:off x="8613648" y="3227832"/>
            <a:ext cx="1481328" cy="530352"/>
          </a:xfrm>
          <a:prstGeom prst="ellipse">
            <a:avLst/>
          </a:prstGeom>
          <a:solidFill>
            <a:srgbClr val="0171C1"/>
          </a:solidFill>
          <a:ln w="12700">
            <a:solidFill>
              <a:srgbClr val="0171C1"/>
            </a:solidFill>
            <a:prstDash val="solid"/>
          </a:ln>
        </p:spPr>
        <p:txBody>
          <a:bodyPr/>
          <a:lstStyle/>
          <a:p>
            <a:endParaRPr lang="en-IN"/>
          </a:p>
        </p:txBody>
      </p:sp>
      <p:sp>
        <p:nvSpPr>
          <p:cNvPr id="31" name="Text 28"/>
          <p:cNvSpPr txBox="1"/>
          <p:nvPr/>
        </p:nvSpPr>
        <p:spPr>
          <a:xfrm>
            <a:off x="8613648" y="3227832"/>
            <a:ext cx="1481328" cy="53035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Ranked candidates</a:t>
            </a:r>
            <a:endParaRPr lang="en-US" sz="950" dirty="0"/>
          </a:p>
        </p:txBody>
      </p:sp>
      <p:sp>
        <p:nvSpPr>
          <p:cNvPr id="32" name="Shape 29"/>
          <p:cNvSpPr/>
          <p:nvPr/>
        </p:nvSpPr>
        <p:spPr>
          <a:xfrm>
            <a:off x="10195560" y="3154680"/>
            <a:ext cx="1691640" cy="694944"/>
          </a:xfrm>
          <a:prstGeom prst="roundRect">
            <a:avLst>
              <a:gd name="adj" fmla="val 10526"/>
            </a:avLst>
          </a:prstGeom>
          <a:solidFill>
            <a:srgbClr val="F4F6F7"/>
          </a:solidFill>
          <a:ln w="15875">
            <a:solidFill>
              <a:srgbClr val="B9770E"/>
            </a:solidFill>
            <a:prstDash val="solid"/>
          </a:ln>
        </p:spPr>
        <p:txBody>
          <a:bodyPr/>
          <a:lstStyle/>
          <a:p>
            <a:endParaRPr lang="en-IN"/>
          </a:p>
        </p:txBody>
      </p:sp>
      <p:sp>
        <p:nvSpPr>
          <p:cNvPr id="33" name="Text 30"/>
          <p:cNvSpPr txBox="1"/>
          <p:nvPr/>
        </p:nvSpPr>
        <p:spPr>
          <a:xfrm>
            <a:off x="10277856" y="3191256"/>
            <a:ext cx="1527048" cy="621792"/>
          </a:xfrm>
          <a:prstGeom prst="rect">
            <a:avLst/>
          </a:prstGeom>
          <a:noFill/>
          <a:ln/>
        </p:spPr>
        <p:txBody>
          <a:bodyPr wrap="square" lIns="0" tIns="0" rIns="0" bIns="0" rtlCol="0" anchor="ctr"/>
          <a:lstStyle/>
          <a:p>
            <a:pPr marL="0" indent="0">
              <a:lnSpc>
                <a:spcPts val="1000"/>
              </a:lnSpc>
              <a:buNone/>
            </a:pPr>
            <a:r>
              <a:rPr lang="en-US" sz="850" dirty="0">
                <a:solidFill>
                  <a:srgbClr val="1F1F1F"/>
                </a:solidFill>
                <a:latin typeface="Calibri" pitchFamily="34" charset="0"/>
                <a:ea typeface="Calibri" pitchFamily="34" charset="-122"/>
                <a:cs typeface="Calibri" pitchFamily="34" charset="-120"/>
              </a:rPr>
              <a:t>Several vessels remain plausible; each carries its own likelihood, none is asserted.</a:t>
            </a:r>
            <a:endParaRPr lang="en-US" sz="850" dirty="0"/>
          </a:p>
        </p:txBody>
      </p:sp>
      <p:sp>
        <p:nvSpPr>
          <p:cNvPr id="34" name="Shape 31"/>
          <p:cNvSpPr/>
          <p:nvPr/>
        </p:nvSpPr>
        <p:spPr>
          <a:xfrm>
            <a:off x="8613648" y="5212080"/>
            <a:ext cx="1481328" cy="530352"/>
          </a:xfrm>
          <a:prstGeom prst="ellipse">
            <a:avLst/>
          </a:prstGeom>
          <a:solidFill>
            <a:srgbClr val="0171C1"/>
          </a:solidFill>
          <a:ln w="12700">
            <a:solidFill>
              <a:srgbClr val="0171C1"/>
            </a:solidFill>
            <a:prstDash val="solid"/>
          </a:ln>
        </p:spPr>
        <p:txBody>
          <a:bodyPr/>
          <a:lstStyle/>
          <a:p>
            <a:endParaRPr lang="en-IN"/>
          </a:p>
        </p:txBody>
      </p:sp>
      <p:sp>
        <p:nvSpPr>
          <p:cNvPr id="35" name="Text 32"/>
          <p:cNvSpPr txBox="1"/>
          <p:nvPr/>
        </p:nvSpPr>
        <p:spPr>
          <a:xfrm>
            <a:off x="8613648" y="5212080"/>
            <a:ext cx="1481328" cy="53035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Insufficient evidence</a:t>
            </a:r>
            <a:endParaRPr lang="en-US" sz="950" dirty="0"/>
          </a:p>
        </p:txBody>
      </p:sp>
      <p:sp>
        <p:nvSpPr>
          <p:cNvPr id="36" name="Shape 33"/>
          <p:cNvSpPr/>
          <p:nvPr/>
        </p:nvSpPr>
        <p:spPr>
          <a:xfrm>
            <a:off x="10195560" y="5138928"/>
            <a:ext cx="1691640" cy="694944"/>
          </a:xfrm>
          <a:prstGeom prst="roundRect">
            <a:avLst>
              <a:gd name="adj" fmla="val 10526"/>
            </a:avLst>
          </a:prstGeom>
          <a:solidFill>
            <a:srgbClr val="F4F6F7"/>
          </a:solidFill>
          <a:ln w="15875">
            <a:solidFill>
              <a:srgbClr val="B03A2E"/>
            </a:solidFill>
            <a:prstDash val="solid"/>
          </a:ln>
        </p:spPr>
        <p:txBody>
          <a:bodyPr/>
          <a:lstStyle/>
          <a:p>
            <a:endParaRPr lang="en-IN"/>
          </a:p>
        </p:txBody>
      </p:sp>
      <p:sp>
        <p:nvSpPr>
          <p:cNvPr id="37" name="Text 34"/>
          <p:cNvSpPr txBox="1"/>
          <p:nvPr/>
        </p:nvSpPr>
        <p:spPr>
          <a:xfrm>
            <a:off x="10277856" y="5175504"/>
            <a:ext cx="1527048" cy="621792"/>
          </a:xfrm>
          <a:prstGeom prst="rect">
            <a:avLst/>
          </a:prstGeom>
          <a:noFill/>
          <a:ln/>
        </p:spPr>
        <p:txBody>
          <a:bodyPr wrap="square" lIns="0" tIns="0" rIns="0" bIns="0" rtlCol="0" anchor="ctr"/>
          <a:lstStyle/>
          <a:p>
            <a:pPr marL="0" indent="0">
              <a:lnSpc>
                <a:spcPts val="1000"/>
              </a:lnSpc>
              <a:buNone/>
            </a:pPr>
            <a:r>
              <a:rPr lang="en-US" sz="850" dirty="0">
                <a:solidFill>
                  <a:srgbClr val="1F1F1F"/>
                </a:solidFill>
                <a:latin typeface="Calibri" pitchFamily="34" charset="0"/>
                <a:ea typeface="Calibri" pitchFamily="34" charset="-122"/>
                <a:cs typeface="Calibri" pitchFamily="34" charset="-120"/>
              </a:rPr>
              <a:t>No track fits — escalated for dark-vessel review instead of blaming the top-ranked ship.</a:t>
            </a:r>
            <a:endParaRPr lang="en-US" sz="850" dirty="0"/>
          </a:p>
        </p:txBody>
      </p:sp>
      <p:sp>
        <p:nvSpPr>
          <p:cNvPr id="38" name="Shape 35"/>
          <p:cNvSpPr/>
          <p:nvPr/>
        </p:nvSpPr>
        <p:spPr>
          <a:xfrm flipV="1">
            <a:off x="8385048" y="1920240"/>
            <a:ext cx="228600" cy="1627632"/>
          </a:xfrm>
          <a:prstGeom prst="line">
            <a:avLst/>
          </a:prstGeom>
          <a:noFill/>
          <a:ln w="19050">
            <a:solidFill>
              <a:srgbClr val="333333"/>
            </a:solidFill>
            <a:prstDash val="solid"/>
            <a:tailEnd type="triangle"/>
          </a:ln>
        </p:spPr>
        <p:txBody>
          <a:bodyPr/>
          <a:lstStyle/>
          <a:p>
            <a:endParaRPr lang="en-IN"/>
          </a:p>
        </p:txBody>
      </p:sp>
      <p:sp>
        <p:nvSpPr>
          <p:cNvPr id="39" name="Shape 36"/>
          <p:cNvSpPr/>
          <p:nvPr/>
        </p:nvSpPr>
        <p:spPr>
          <a:xfrm>
            <a:off x="8385048" y="3529584"/>
            <a:ext cx="228600" cy="18288"/>
          </a:xfrm>
          <a:prstGeom prst="line">
            <a:avLst/>
          </a:prstGeom>
          <a:noFill/>
          <a:ln w="19050">
            <a:solidFill>
              <a:srgbClr val="333333"/>
            </a:solidFill>
            <a:prstDash val="solid"/>
            <a:tailEnd type="triangle"/>
          </a:ln>
        </p:spPr>
        <p:txBody>
          <a:bodyPr/>
          <a:lstStyle/>
          <a:p>
            <a:endParaRPr lang="en-IN"/>
          </a:p>
        </p:txBody>
      </p:sp>
      <p:sp>
        <p:nvSpPr>
          <p:cNvPr id="40" name="Shape 37"/>
          <p:cNvSpPr/>
          <p:nvPr/>
        </p:nvSpPr>
        <p:spPr>
          <a:xfrm>
            <a:off x="8385048" y="3566160"/>
            <a:ext cx="228600" cy="1810512"/>
          </a:xfrm>
          <a:prstGeom prst="line">
            <a:avLst/>
          </a:prstGeom>
          <a:noFill/>
          <a:ln w="19050">
            <a:solidFill>
              <a:srgbClr val="333333"/>
            </a:solidFill>
            <a:prstDash val="solid"/>
            <a:tailEnd type="triangle"/>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92608" y="201168"/>
            <a:ext cx="1554480" cy="603504"/>
          </a:xfrm>
          <a:prstGeom prst="ellipse">
            <a:avLst/>
          </a:prstGeom>
          <a:solidFill>
            <a:srgbClr val="FFFFFF"/>
          </a:solidFill>
          <a:ln w="12700">
            <a:solidFill>
              <a:srgbClr val="5B4B8A"/>
            </a:solidFill>
            <a:prstDash val="solid"/>
          </a:ln>
        </p:spPr>
        <p:txBody>
          <a:bodyPr/>
          <a:lstStyle/>
          <a:p>
            <a:endParaRPr lang="en-IN"/>
          </a:p>
        </p:txBody>
      </p:sp>
      <p:sp>
        <p:nvSpPr>
          <p:cNvPr id="3" name="Text 1"/>
          <p:cNvSpPr txBox="1"/>
          <p:nvPr/>
        </p:nvSpPr>
        <p:spPr>
          <a:xfrm>
            <a:off x="292608" y="201168"/>
            <a:ext cx="1554480" cy="603504"/>
          </a:xfrm>
          <a:prstGeom prst="rect">
            <a:avLst/>
          </a:prstGeom>
          <a:noFill/>
          <a:ln/>
        </p:spPr>
        <p:txBody>
          <a:bodyPr wrap="square" lIns="0" tIns="0" rIns="0" bIns="0"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Evinco</a:t>
            </a:r>
            <a:endParaRPr lang="en-US" sz="1600" dirty="0"/>
          </a:p>
        </p:txBody>
      </p:sp>
      <p:sp>
        <p:nvSpPr>
          <p:cNvPr id="4" name="Text 2"/>
          <p:cNvSpPr txBox="1"/>
          <p:nvPr/>
        </p:nvSpPr>
        <p:spPr>
          <a:xfrm>
            <a:off x="1965960" y="146304"/>
            <a:ext cx="8138160" cy="731520"/>
          </a:xfrm>
          <a:prstGeom prst="rect">
            <a:avLst/>
          </a:prstGeom>
          <a:noFill/>
          <a:ln/>
        </p:spPr>
        <p:txBody>
          <a:bodyPr wrap="square" lIns="0" tIns="0" rIns="0" bIns="0" rtlCol="0" anchor="ctr"/>
          <a:lstStyle/>
          <a:p>
            <a:pPr marL="0" indent="0" algn="ctr">
              <a:buNone/>
            </a:pPr>
            <a:r>
              <a:rPr lang="en-US" sz="3200" b="1" dirty="0">
                <a:solidFill>
                  <a:srgbClr val="000000"/>
                </a:solidFill>
                <a:latin typeface="Bookman Old Style" pitchFamily="34" charset="0"/>
                <a:ea typeface="Bookman Old Style" pitchFamily="34" charset="-122"/>
                <a:cs typeface="Bookman Old Style" pitchFamily="34" charset="-120"/>
              </a:rPr>
              <a:t>FEASIBILITY AND VIABILITY</a:t>
            </a:r>
            <a:endParaRPr lang="en-US" sz="3200" dirty="0"/>
          </a:p>
        </p:txBody>
      </p:sp>
      <p:pic>
        <p:nvPicPr>
          <p:cNvPr id="5" name="Image 0" descr="preencoded.png"/>
          <p:cNvPicPr>
            <a:picLocks noChangeAspect="1"/>
          </p:cNvPicPr>
          <p:nvPr/>
        </p:nvPicPr>
        <p:blipFill>
          <a:blip r:embed="rId3"/>
          <a:stretch>
            <a:fillRect/>
          </a:stretch>
        </p:blipFill>
        <p:spPr>
          <a:xfrm>
            <a:off x="10195560" y="201168"/>
            <a:ext cx="1691640" cy="813816"/>
          </a:xfrm>
          <a:prstGeom prst="rect">
            <a:avLst/>
          </a:prstGeom>
        </p:spPr>
      </p:pic>
      <p:sp>
        <p:nvSpPr>
          <p:cNvPr id="6" name="Shape 3"/>
          <p:cNvSpPr/>
          <p:nvPr/>
        </p:nvSpPr>
        <p:spPr>
          <a:xfrm>
            <a:off x="0" y="6455664"/>
            <a:ext cx="12188952" cy="402336"/>
          </a:xfrm>
          <a:prstGeom prst="rect">
            <a:avLst/>
          </a:prstGeom>
          <a:solidFill>
            <a:srgbClr val="0171C1"/>
          </a:solidFill>
          <a:ln/>
        </p:spPr>
        <p:txBody>
          <a:bodyPr/>
          <a:lstStyle/>
          <a:p>
            <a:endParaRPr lang="en-IN"/>
          </a:p>
        </p:txBody>
      </p:sp>
      <p:sp>
        <p:nvSpPr>
          <p:cNvPr id="7" name="Text 4"/>
          <p:cNvSpPr txBox="1"/>
          <p:nvPr/>
        </p:nvSpPr>
        <p:spPr>
          <a:xfrm>
            <a:off x="11274552" y="6455664"/>
            <a:ext cx="685800" cy="402336"/>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4</a:t>
            </a:r>
            <a:endParaRPr lang="en-US" sz="1200" dirty="0"/>
          </a:p>
        </p:txBody>
      </p:sp>
      <p:sp>
        <p:nvSpPr>
          <p:cNvPr id="8" name="Text 5"/>
          <p:cNvSpPr txBox="1"/>
          <p:nvPr/>
        </p:nvSpPr>
        <p:spPr>
          <a:xfrm>
            <a:off x="384048" y="1170432"/>
            <a:ext cx="2743200" cy="36576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Feasibility :</a:t>
            </a:r>
            <a:endParaRPr lang="en-US" sz="2000" dirty="0"/>
          </a:p>
        </p:txBody>
      </p:sp>
      <p:sp>
        <p:nvSpPr>
          <p:cNvPr id="9" name="Shape 6"/>
          <p:cNvSpPr/>
          <p:nvPr/>
        </p:nvSpPr>
        <p:spPr>
          <a:xfrm>
            <a:off x="411480" y="1627632"/>
            <a:ext cx="3154680" cy="877824"/>
          </a:xfrm>
          <a:prstGeom prst="roundRect">
            <a:avLst>
              <a:gd name="adj" fmla="val 14583"/>
            </a:avLst>
          </a:prstGeom>
          <a:solidFill>
            <a:srgbClr val="FFFFFF"/>
          </a:solidFill>
          <a:ln w="19050">
            <a:solidFill>
              <a:srgbClr val="000000"/>
            </a:solidFill>
            <a:prstDash val="solid"/>
          </a:ln>
        </p:spPr>
        <p:txBody>
          <a:bodyPr/>
          <a:lstStyle/>
          <a:p>
            <a:endParaRPr lang="en-IN"/>
          </a:p>
        </p:txBody>
      </p:sp>
      <p:sp>
        <p:nvSpPr>
          <p:cNvPr id="10" name="Text 7"/>
          <p:cNvSpPr txBox="1"/>
          <p:nvPr/>
        </p:nvSpPr>
        <p:spPr>
          <a:xfrm>
            <a:off x="548640" y="1682496"/>
            <a:ext cx="2880360" cy="768096"/>
          </a:xfrm>
          <a:prstGeom prst="rect">
            <a:avLst/>
          </a:prstGeom>
          <a:noFill/>
          <a:ln/>
        </p:spPr>
        <p:txBody>
          <a:bodyPr wrap="square" lIns="0" tIns="0" rIns="0" bIns="0" rtlCol="0" anchor="ctr"/>
          <a:lstStyle/>
          <a:p>
            <a:pPr marL="0" indent="0">
              <a:lnSpc>
                <a:spcPts val="1400"/>
              </a:lnSpc>
              <a:buNone/>
            </a:pPr>
            <a:r>
              <a:rPr lang="en-US" sz="1150" b="1" dirty="0">
                <a:solidFill>
                  <a:srgbClr val="141414"/>
                </a:solidFill>
                <a:latin typeface="Calibri" pitchFamily="34" charset="0"/>
                <a:ea typeface="Calibri" pitchFamily="34" charset="-122"/>
                <a:cs typeface="Calibri" pitchFamily="34" charset="-120"/>
              </a:rPr>
              <a:t>Already running </a:t>
            </a:r>
            <a:r>
              <a:rPr lang="en-US" sz="1150" dirty="0">
                <a:solidFill>
                  <a:srgbClr val="141414"/>
                </a:solidFill>
                <a:latin typeface="Calibri" pitchFamily="34" charset="0"/>
                <a:ea typeface="Calibri" pitchFamily="34" charset="-122"/>
                <a:cs typeface="Calibri" pitchFamily="34" charset="-120"/>
              </a:rPr>
              <a:t>– a live end-to-end prototype on Azure completes a case in ~21 s.</a:t>
            </a:r>
            <a:endParaRPr lang="en-US" sz="1150" dirty="0"/>
          </a:p>
        </p:txBody>
      </p:sp>
      <p:sp>
        <p:nvSpPr>
          <p:cNvPr id="11" name="Shape 8"/>
          <p:cNvSpPr/>
          <p:nvPr/>
        </p:nvSpPr>
        <p:spPr>
          <a:xfrm>
            <a:off x="411480" y="2670048"/>
            <a:ext cx="3154680" cy="877824"/>
          </a:xfrm>
          <a:prstGeom prst="roundRect">
            <a:avLst>
              <a:gd name="adj" fmla="val 14583"/>
            </a:avLst>
          </a:prstGeom>
          <a:solidFill>
            <a:srgbClr val="FFFFFF"/>
          </a:solidFill>
          <a:ln w="19050">
            <a:solidFill>
              <a:srgbClr val="000000"/>
            </a:solidFill>
            <a:prstDash val="solid"/>
          </a:ln>
        </p:spPr>
        <p:txBody>
          <a:bodyPr/>
          <a:lstStyle/>
          <a:p>
            <a:endParaRPr lang="en-IN"/>
          </a:p>
        </p:txBody>
      </p:sp>
      <p:sp>
        <p:nvSpPr>
          <p:cNvPr id="12" name="Text 9"/>
          <p:cNvSpPr txBox="1"/>
          <p:nvPr/>
        </p:nvSpPr>
        <p:spPr>
          <a:xfrm>
            <a:off x="548640" y="2724912"/>
            <a:ext cx="2880360" cy="768096"/>
          </a:xfrm>
          <a:prstGeom prst="rect">
            <a:avLst/>
          </a:prstGeom>
          <a:noFill/>
          <a:ln/>
        </p:spPr>
        <p:txBody>
          <a:bodyPr wrap="square" lIns="0" tIns="0" rIns="0" bIns="0" rtlCol="0" anchor="ctr"/>
          <a:lstStyle/>
          <a:p>
            <a:pPr marL="0" indent="0">
              <a:lnSpc>
                <a:spcPts val="1400"/>
              </a:lnSpc>
              <a:buNone/>
            </a:pPr>
            <a:r>
              <a:rPr lang="en-US" sz="1150" b="1" dirty="0">
                <a:solidFill>
                  <a:srgbClr val="141414"/>
                </a:solidFill>
                <a:latin typeface="Calibri" pitchFamily="34" charset="0"/>
                <a:ea typeface="Calibri" pitchFamily="34" charset="-122"/>
                <a:cs typeface="Calibri" pitchFamily="34" charset="-120"/>
              </a:rPr>
              <a:t>Open data </a:t>
            </a:r>
            <a:r>
              <a:rPr lang="en-US" sz="1150" dirty="0">
                <a:solidFill>
                  <a:srgbClr val="141414"/>
                </a:solidFill>
                <a:latin typeface="Calibri" pitchFamily="34" charset="0"/>
                <a:ea typeface="Calibri" pitchFamily="34" charset="-122"/>
                <a:cs typeface="Calibri" pitchFamily="34" charset="-120"/>
              </a:rPr>
              <a:t>– Sentinel-1, Open-Meteo and AIS feeds are free and publicly available.</a:t>
            </a:r>
            <a:endParaRPr lang="en-US" sz="1150" dirty="0"/>
          </a:p>
        </p:txBody>
      </p:sp>
      <p:sp>
        <p:nvSpPr>
          <p:cNvPr id="13" name="Shape 10"/>
          <p:cNvSpPr/>
          <p:nvPr/>
        </p:nvSpPr>
        <p:spPr>
          <a:xfrm>
            <a:off x="411480" y="3712464"/>
            <a:ext cx="3154680" cy="877824"/>
          </a:xfrm>
          <a:prstGeom prst="roundRect">
            <a:avLst>
              <a:gd name="adj" fmla="val 14583"/>
            </a:avLst>
          </a:prstGeom>
          <a:solidFill>
            <a:srgbClr val="FFFFFF"/>
          </a:solidFill>
          <a:ln w="19050">
            <a:solidFill>
              <a:srgbClr val="000000"/>
            </a:solidFill>
            <a:prstDash val="solid"/>
          </a:ln>
        </p:spPr>
        <p:txBody>
          <a:bodyPr/>
          <a:lstStyle/>
          <a:p>
            <a:endParaRPr lang="en-IN"/>
          </a:p>
        </p:txBody>
      </p:sp>
      <p:sp>
        <p:nvSpPr>
          <p:cNvPr id="14" name="Text 11"/>
          <p:cNvSpPr txBox="1"/>
          <p:nvPr/>
        </p:nvSpPr>
        <p:spPr>
          <a:xfrm>
            <a:off x="548640" y="3767328"/>
            <a:ext cx="2880360" cy="768096"/>
          </a:xfrm>
          <a:prstGeom prst="rect">
            <a:avLst/>
          </a:prstGeom>
          <a:noFill/>
          <a:ln/>
        </p:spPr>
        <p:txBody>
          <a:bodyPr wrap="square" lIns="0" tIns="0" rIns="0" bIns="0" rtlCol="0" anchor="ctr"/>
          <a:lstStyle/>
          <a:p>
            <a:pPr marL="0" indent="0">
              <a:lnSpc>
                <a:spcPts val="1400"/>
              </a:lnSpc>
              <a:buNone/>
            </a:pPr>
            <a:r>
              <a:rPr lang="en-US" sz="1150" b="1" dirty="0">
                <a:solidFill>
                  <a:srgbClr val="141414"/>
                </a:solidFill>
                <a:latin typeface="Calibri" pitchFamily="34" charset="0"/>
                <a:ea typeface="Calibri" pitchFamily="34" charset="-122"/>
                <a:cs typeface="Calibri" pitchFamily="34" charset="-120"/>
              </a:rPr>
              <a:t>Low cost </a:t>
            </a:r>
            <a:r>
              <a:rPr lang="en-US" sz="1150" dirty="0">
                <a:solidFill>
                  <a:srgbClr val="141414"/>
                </a:solidFill>
                <a:latin typeface="Calibri" pitchFamily="34" charset="0"/>
                <a:ea typeface="Calibri" pitchFamily="34" charset="-122"/>
                <a:cs typeface="Calibri" pitchFamily="34" charset="-120"/>
              </a:rPr>
              <a:t>– open-source stack; inference runs on a single commodity node.</a:t>
            </a:r>
            <a:endParaRPr lang="en-US" sz="1150" dirty="0"/>
          </a:p>
        </p:txBody>
      </p:sp>
      <p:sp>
        <p:nvSpPr>
          <p:cNvPr id="15" name="Shape 12"/>
          <p:cNvSpPr/>
          <p:nvPr/>
        </p:nvSpPr>
        <p:spPr>
          <a:xfrm>
            <a:off x="411480" y="4754880"/>
            <a:ext cx="3154680" cy="877824"/>
          </a:xfrm>
          <a:prstGeom prst="roundRect">
            <a:avLst>
              <a:gd name="adj" fmla="val 14583"/>
            </a:avLst>
          </a:prstGeom>
          <a:solidFill>
            <a:srgbClr val="FFFFFF"/>
          </a:solidFill>
          <a:ln w="19050">
            <a:solidFill>
              <a:srgbClr val="000000"/>
            </a:solidFill>
            <a:prstDash val="solid"/>
          </a:ln>
        </p:spPr>
        <p:txBody>
          <a:bodyPr/>
          <a:lstStyle/>
          <a:p>
            <a:endParaRPr lang="en-IN"/>
          </a:p>
        </p:txBody>
      </p:sp>
      <p:sp>
        <p:nvSpPr>
          <p:cNvPr id="16" name="Text 13"/>
          <p:cNvSpPr txBox="1"/>
          <p:nvPr/>
        </p:nvSpPr>
        <p:spPr>
          <a:xfrm>
            <a:off x="548640" y="4809744"/>
            <a:ext cx="2880360" cy="768096"/>
          </a:xfrm>
          <a:prstGeom prst="rect">
            <a:avLst/>
          </a:prstGeom>
          <a:noFill/>
          <a:ln/>
        </p:spPr>
        <p:txBody>
          <a:bodyPr wrap="square" lIns="0" tIns="0" rIns="0" bIns="0" rtlCol="0" anchor="ctr"/>
          <a:lstStyle/>
          <a:p>
            <a:pPr marL="0" indent="0">
              <a:lnSpc>
                <a:spcPts val="1400"/>
              </a:lnSpc>
              <a:buNone/>
            </a:pPr>
            <a:r>
              <a:rPr lang="en-US" sz="1150" b="1" dirty="0">
                <a:solidFill>
                  <a:srgbClr val="141414"/>
                </a:solidFill>
                <a:latin typeface="Calibri" pitchFamily="34" charset="0"/>
                <a:ea typeface="Calibri" pitchFamily="34" charset="-122"/>
                <a:cs typeface="Calibri" pitchFamily="34" charset="-120"/>
              </a:rPr>
              <a:t>Modular design </a:t>
            </a:r>
            <a:r>
              <a:rPr lang="en-US" sz="1150" dirty="0">
                <a:solidFill>
                  <a:srgbClr val="141414"/>
                </a:solidFill>
                <a:latin typeface="Calibri" pitchFamily="34" charset="0"/>
                <a:ea typeface="Calibri" pitchFamily="34" charset="-122"/>
                <a:cs typeface="Calibri" pitchFamily="34" charset="-120"/>
              </a:rPr>
              <a:t>– detection, drift and attribution can each be upgraded independently.</a:t>
            </a:r>
            <a:endParaRPr lang="en-US" sz="1150" dirty="0"/>
          </a:p>
        </p:txBody>
      </p:sp>
      <p:sp>
        <p:nvSpPr>
          <p:cNvPr id="17" name="Text 14"/>
          <p:cNvSpPr txBox="1"/>
          <p:nvPr/>
        </p:nvSpPr>
        <p:spPr>
          <a:xfrm>
            <a:off x="3886200" y="1115568"/>
            <a:ext cx="7955280" cy="402336"/>
          </a:xfrm>
          <a:prstGeom prst="rect">
            <a:avLst/>
          </a:prstGeom>
          <a:noFill/>
          <a:ln/>
        </p:spPr>
        <p:txBody>
          <a:bodyPr wrap="square" lIns="0" tIns="0" rIns="0" bIns="0" rtlCol="0" anchor="ctr"/>
          <a:lstStyle/>
          <a:p>
            <a:pPr marL="0" indent="0" algn="ctr">
              <a:buNone/>
            </a:pPr>
            <a:r>
              <a:rPr lang="en-US" sz="2100" b="1" dirty="0">
                <a:solidFill>
                  <a:srgbClr val="111111"/>
                </a:solidFill>
                <a:latin typeface="Calibri" pitchFamily="34" charset="0"/>
                <a:ea typeface="Calibri" pitchFamily="34" charset="-122"/>
                <a:cs typeface="Calibri" pitchFamily="34" charset="-120"/>
              </a:rPr>
              <a:t>Challenges in attributing a spill (team estimate) :</a:t>
            </a:r>
            <a:endParaRPr lang="en-US" sz="2100" dirty="0"/>
          </a:p>
        </p:txBody>
      </p:sp>
      <p:graphicFrame>
        <p:nvGraphicFramePr>
          <p:cNvPr id="18" name="Chart 0"/>
          <p:cNvGraphicFramePr/>
          <p:nvPr/>
        </p:nvGraphicFramePr>
        <p:xfrm>
          <a:off x="5897880" y="1517904"/>
          <a:ext cx="4069080" cy="4069080"/>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3840480" y="1591056"/>
            <a:ext cx="2011680" cy="1115568"/>
          </a:xfrm>
          <a:prstGeom prst="roundRect">
            <a:avLst>
              <a:gd name="adj" fmla="val 8197"/>
            </a:avLst>
          </a:prstGeom>
          <a:solidFill>
            <a:srgbClr val="FFFFFF"/>
          </a:solidFill>
          <a:ln w="15875">
            <a:solidFill>
              <a:srgbClr val="000000"/>
            </a:solidFill>
            <a:prstDash val="solid"/>
          </a:ln>
        </p:spPr>
        <p:txBody>
          <a:bodyPr/>
          <a:lstStyle/>
          <a:p>
            <a:endParaRPr lang="en-IN"/>
          </a:p>
        </p:txBody>
      </p:sp>
      <p:sp>
        <p:nvSpPr>
          <p:cNvPr id="20" name="Shape 16"/>
          <p:cNvSpPr/>
          <p:nvPr/>
        </p:nvSpPr>
        <p:spPr>
          <a:xfrm>
            <a:off x="3941064" y="1732788"/>
            <a:ext cx="128016" cy="128016"/>
          </a:xfrm>
          <a:prstGeom prst="ellipse">
            <a:avLst/>
          </a:prstGeom>
          <a:solidFill>
            <a:srgbClr val="E67E22"/>
          </a:solidFill>
          <a:ln w="12700">
            <a:solidFill>
              <a:srgbClr val="E67E22"/>
            </a:solidFill>
            <a:prstDash val="solid"/>
          </a:ln>
        </p:spPr>
        <p:txBody>
          <a:bodyPr/>
          <a:lstStyle/>
          <a:p>
            <a:endParaRPr lang="en-IN"/>
          </a:p>
        </p:txBody>
      </p:sp>
      <p:sp>
        <p:nvSpPr>
          <p:cNvPr id="21" name="Text 17"/>
          <p:cNvSpPr txBox="1"/>
          <p:nvPr/>
        </p:nvSpPr>
        <p:spPr>
          <a:xfrm>
            <a:off x="4114800" y="1645920"/>
            <a:ext cx="1645920" cy="1005840"/>
          </a:xfrm>
          <a:prstGeom prst="rect">
            <a:avLst/>
          </a:prstGeom>
          <a:noFill/>
          <a:ln/>
        </p:spPr>
        <p:txBody>
          <a:bodyPr wrap="square" lIns="0" tIns="0" rIns="0" bIns="0" rtlCol="0" anchor="t"/>
          <a:lstStyle/>
          <a:p>
            <a:pPr marL="0" indent="0">
              <a:lnSpc>
                <a:spcPts val="1000"/>
              </a:lnSpc>
              <a:buNone/>
            </a:pPr>
            <a:r>
              <a:rPr lang="en-US" sz="850" b="1" dirty="0">
                <a:solidFill>
                  <a:srgbClr val="141414"/>
                </a:solidFill>
                <a:latin typeface="Calibri" pitchFamily="34" charset="0"/>
                <a:ea typeface="Calibri" pitchFamily="34" charset="-122"/>
                <a:cs typeface="Calibri" pitchFamily="34" charset="-120"/>
              </a:rPr>
              <a:t>SAR look-alikes</a:t>
            </a:r>
            <a:endParaRPr lang="en-US" sz="850" dirty="0"/>
          </a:p>
          <a:p>
            <a:pPr marL="0" indent="0">
              <a:lnSpc>
                <a:spcPts val="1000"/>
              </a:lnSpc>
              <a:buNone/>
            </a:pPr>
            <a:r>
              <a:rPr lang="en-US" sz="850" dirty="0">
                <a:solidFill>
                  <a:srgbClr val="141414"/>
                </a:solidFill>
                <a:latin typeface="Calibri" pitchFamily="34" charset="0"/>
                <a:ea typeface="Calibri" pitchFamily="34" charset="-122"/>
                <a:cs typeface="Calibri" pitchFamily="34" charset="-120"/>
              </a:rPr>
              <a:t>Calm zones, biogenic films and rain cells are screened out by weighing each physical discriminator in log-odds.</a:t>
            </a:r>
            <a:endParaRPr lang="en-US" sz="850" dirty="0"/>
          </a:p>
        </p:txBody>
      </p:sp>
      <p:sp>
        <p:nvSpPr>
          <p:cNvPr id="22" name="Shape 18"/>
          <p:cNvSpPr/>
          <p:nvPr/>
        </p:nvSpPr>
        <p:spPr>
          <a:xfrm>
            <a:off x="3840480" y="2834640"/>
            <a:ext cx="2011680" cy="1115568"/>
          </a:xfrm>
          <a:prstGeom prst="roundRect">
            <a:avLst>
              <a:gd name="adj" fmla="val 8197"/>
            </a:avLst>
          </a:prstGeom>
          <a:solidFill>
            <a:srgbClr val="FFFFFF"/>
          </a:solidFill>
          <a:ln w="15875">
            <a:solidFill>
              <a:srgbClr val="000000"/>
            </a:solidFill>
            <a:prstDash val="solid"/>
          </a:ln>
        </p:spPr>
        <p:txBody>
          <a:bodyPr/>
          <a:lstStyle/>
          <a:p>
            <a:endParaRPr lang="en-IN"/>
          </a:p>
        </p:txBody>
      </p:sp>
      <p:sp>
        <p:nvSpPr>
          <p:cNvPr id="23" name="Shape 19"/>
          <p:cNvSpPr/>
          <p:nvPr/>
        </p:nvSpPr>
        <p:spPr>
          <a:xfrm>
            <a:off x="3941064" y="2976372"/>
            <a:ext cx="128016" cy="128016"/>
          </a:xfrm>
          <a:prstGeom prst="ellipse">
            <a:avLst/>
          </a:prstGeom>
          <a:solidFill>
            <a:srgbClr val="27AE60"/>
          </a:solidFill>
          <a:ln w="12700">
            <a:solidFill>
              <a:srgbClr val="27AE60"/>
            </a:solidFill>
            <a:prstDash val="solid"/>
          </a:ln>
        </p:spPr>
        <p:txBody>
          <a:bodyPr/>
          <a:lstStyle/>
          <a:p>
            <a:endParaRPr lang="en-IN"/>
          </a:p>
        </p:txBody>
      </p:sp>
      <p:sp>
        <p:nvSpPr>
          <p:cNvPr id="24" name="Text 20"/>
          <p:cNvSpPr txBox="1"/>
          <p:nvPr/>
        </p:nvSpPr>
        <p:spPr>
          <a:xfrm>
            <a:off x="4114800" y="2889504"/>
            <a:ext cx="1645920" cy="1005840"/>
          </a:xfrm>
          <a:prstGeom prst="rect">
            <a:avLst/>
          </a:prstGeom>
          <a:noFill/>
          <a:ln/>
        </p:spPr>
        <p:txBody>
          <a:bodyPr wrap="square" lIns="0" tIns="0" rIns="0" bIns="0" rtlCol="0" anchor="t"/>
          <a:lstStyle/>
          <a:p>
            <a:pPr marL="0" indent="0">
              <a:lnSpc>
                <a:spcPts val="1000"/>
              </a:lnSpc>
              <a:buNone/>
            </a:pPr>
            <a:r>
              <a:rPr lang="en-US" sz="850" b="1" dirty="0">
                <a:solidFill>
                  <a:srgbClr val="141414"/>
                </a:solidFill>
                <a:latin typeface="Calibri" pitchFamily="34" charset="0"/>
                <a:ea typeface="Calibri" pitchFamily="34" charset="-122"/>
                <a:cs typeface="Calibri" pitchFamily="34" charset="-120"/>
              </a:rPr>
              <a:t>Met-ocean uncertainty</a:t>
            </a:r>
            <a:endParaRPr lang="en-US" sz="850" dirty="0"/>
          </a:p>
          <a:p>
            <a:pPr marL="0" indent="0">
              <a:lnSpc>
                <a:spcPts val="1000"/>
              </a:lnSpc>
              <a:buNone/>
            </a:pPr>
            <a:r>
              <a:rPr lang="en-US" sz="850" dirty="0">
                <a:solidFill>
                  <a:srgbClr val="141414"/>
                </a:solidFill>
                <a:latin typeface="Calibri" pitchFamily="34" charset="0"/>
                <a:ea typeface="Calibri" pitchFamily="34" charset="-122"/>
                <a:cs typeface="Calibri" pitchFamily="34" charset="-120"/>
              </a:rPr>
              <a:t>A 500-particle ensemble reports its own spread as 50 % and 90 % confidence radii, not a single false dot.</a:t>
            </a:r>
            <a:endParaRPr lang="en-US" sz="850" dirty="0"/>
          </a:p>
        </p:txBody>
      </p:sp>
      <p:sp>
        <p:nvSpPr>
          <p:cNvPr id="25" name="Shape 21"/>
          <p:cNvSpPr/>
          <p:nvPr/>
        </p:nvSpPr>
        <p:spPr>
          <a:xfrm>
            <a:off x="3840480" y="4078224"/>
            <a:ext cx="2011680" cy="1115568"/>
          </a:xfrm>
          <a:prstGeom prst="roundRect">
            <a:avLst>
              <a:gd name="adj" fmla="val 8197"/>
            </a:avLst>
          </a:prstGeom>
          <a:solidFill>
            <a:srgbClr val="FFFFFF"/>
          </a:solidFill>
          <a:ln w="15875">
            <a:solidFill>
              <a:srgbClr val="000000"/>
            </a:solidFill>
            <a:prstDash val="solid"/>
          </a:ln>
        </p:spPr>
        <p:txBody>
          <a:bodyPr/>
          <a:lstStyle/>
          <a:p>
            <a:endParaRPr lang="en-IN"/>
          </a:p>
        </p:txBody>
      </p:sp>
      <p:sp>
        <p:nvSpPr>
          <p:cNvPr id="26" name="Shape 22"/>
          <p:cNvSpPr/>
          <p:nvPr/>
        </p:nvSpPr>
        <p:spPr>
          <a:xfrm>
            <a:off x="3941064" y="4219956"/>
            <a:ext cx="128016" cy="128016"/>
          </a:xfrm>
          <a:prstGeom prst="ellipse">
            <a:avLst/>
          </a:prstGeom>
          <a:solidFill>
            <a:srgbClr val="8E44AD"/>
          </a:solidFill>
          <a:ln w="12700">
            <a:solidFill>
              <a:srgbClr val="8E44AD"/>
            </a:solidFill>
            <a:prstDash val="solid"/>
          </a:ln>
        </p:spPr>
        <p:txBody>
          <a:bodyPr/>
          <a:lstStyle/>
          <a:p>
            <a:endParaRPr lang="en-IN"/>
          </a:p>
        </p:txBody>
      </p:sp>
      <p:sp>
        <p:nvSpPr>
          <p:cNvPr id="27" name="Text 23"/>
          <p:cNvSpPr txBox="1"/>
          <p:nvPr/>
        </p:nvSpPr>
        <p:spPr>
          <a:xfrm>
            <a:off x="4114800" y="4133088"/>
            <a:ext cx="1645920" cy="1005840"/>
          </a:xfrm>
          <a:prstGeom prst="rect">
            <a:avLst/>
          </a:prstGeom>
          <a:noFill/>
          <a:ln/>
        </p:spPr>
        <p:txBody>
          <a:bodyPr wrap="square" lIns="0" tIns="0" rIns="0" bIns="0" rtlCol="0" anchor="t"/>
          <a:lstStyle/>
          <a:p>
            <a:pPr marL="0" indent="0">
              <a:lnSpc>
                <a:spcPts val="1000"/>
              </a:lnSpc>
              <a:buNone/>
            </a:pPr>
            <a:r>
              <a:rPr lang="en-US" sz="850" b="1" dirty="0">
                <a:solidFill>
                  <a:srgbClr val="141414"/>
                </a:solidFill>
                <a:latin typeface="Calibri" pitchFamily="34" charset="0"/>
                <a:ea typeface="Calibri" pitchFamily="34" charset="-122"/>
                <a:cs typeface="Calibri" pitchFamily="34" charset="-120"/>
              </a:rPr>
              <a:t>Missing georeference</a:t>
            </a:r>
            <a:endParaRPr lang="en-US" sz="850" dirty="0"/>
          </a:p>
          <a:p>
            <a:pPr marL="0" indent="0">
              <a:lnSpc>
                <a:spcPts val="1000"/>
              </a:lnSpc>
              <a:buNone/>
            </a:pPr>
            <a:r>
              <a:rPr lang="en-US" sz="850" dirty="0">
                <a:solidFill>
                  <a:srgbClr val="141414"/>
                </a:solidFill>
                <a:latin typeface="Calibri" pitchFamily="34" charset="0"/>
                <a:ea typeface="Calibri" pitchFamily="34" charset="-122"/>
                <a:cs typeface="Calibri" pitchFamily="34" charset="-120"/>
              </a:rPr>
              <a:t>Without coordinates the pipeline still detects the slick but withholds drift and attribution.</a:t>
            </a:r>
            <a:endParaRPr lang="en-US" sz="850" dirty="0"/>
          </a:p>
        </p:txBody>
      </p:sp>
      <p:sp>
        <p:nvSpPr>
          <p:cNvPr id="28" name="Shape 24"/>
          <p:cNvSpPr/>
          <p:nvPr/>
        </p:nvSpPr>
        <p:spPr>
          <a:xfrm>
            <a:off x="10104120" y="1591056"/>
            <a:ext cx="1783080" cy="1115568"/>
          </a:xfrm>
          <a:prstGeom prst="roundRect">
            <a:avLst>
              <a:gd name="adj" fmla="val 8197"/>
            </a:avLst>
          </a:prstGeom>
          <a:solidFill>
            <a:srgbClr val="FFFFFF"/>
          </a:solidFill>
          <a:ln w="15875">
            <a:solidFill>
              <a:srgbClr val="000000"/>
            </a:solidFill>
            <a:prstDash val="solid"/>
          </a:ln>
        </p:spPr>
        <p:txBody>
          <a:bodyPr/>
          <a:lstStyle/>
          <a:p>
            <a:endParaRPr lang="en-IN"/>
          </a:p>
        </p:txBody>
      </p:sp>
      <p:sp>
        <p:nvSpPr>
          <p:cNvPr id="29" name="Shape 25"/>
          <p:cNvSpPr/>
          <p:nvPr/>
        </p:nvSpPr>
        <p:spPr>
          <a:xfrm>
            <a:off x="10204704" y="1732788"/>
            <a:ext cx="128016" cy="128016"/>
          </a:xfrm>
          <a:prstGeom prst="ellipse">
            <a:avLst/>
          </a:prstGeom>
          <a:solidFill>
            <a:srgbClr val="3498DB"/>
          </a:solidFill>
          <a:ln w="12700">
            <a:solidFill>
              <a:srgbClr val="3498DB"/>
            </a:solidFill>
            <a:prstDash val="solid"/>
          </a:ln>
        </p:spPr>
        <p:txBody>
          <a:bodyPr/>
          <a:lstStyle/>
          <a:p>
            <a:endParaRPr lang="en-IN"/>
          </a:p>
        </p:txBody>
      </p:sp>
      <p:sp>
        <p:nvSpPr>
          <p:cNvPr id="30" name="Text 26"/>
          <p:cNvSpPr txBox="1"/>
          <p:nvPr/>
        </p:nvSpPr>
        <p:spPr>
          <a:xfrm>
            <a:off x="10378440" y="1645920"/>
            <a:ext cx="1417320" cy="1005840"/>
          </a:xfrm>
          <a:prstGeom prst="rect">
            <a:avLst/>
          </a:prstGeom>
          <a:noFill/>
          <a:ln/>
        </p:spPr>
        <p:txBody>
          <a:bodyPr wrap="square" lIns="0" tIns="0" rIns="0" bIns="0" rtlCol="0" anchor="t"/>
          <a:lstStyle/>
          <a:p>
            <a:pPr marL="0" indent="0">
              <a:lnSpc>
                <a:spcPts val="1000"/>
              </a:lnSpc>
              <a:buNone/>
            </a:pPr>
            <a:r>
              <a:rPr lang="en-US" sz="850" b="1" dirty="0">
                <a:solidFill>
                  <a:srgbClr val="141414"/>
                </a:solidFill>
                <a:latin typeface="Calibri" pitchFamily="34" charset="0"/>
                <a:ea typeface="Calibri" pitchFamily="34" charset="-122"/>
                <a:cs typeface="Calibri" pitchFamily="34" charset="-120"/>
              </a:rPr>
              <a:t>AIS gaps &amp; dark vessels</a:t>
            </a:r>
            <a:endParaRPr lang="en-US" sz="850" dirty="0"/>
          </a:p>
          <a:p>
            <a:pPr marL="0" indent="0">
              <a:lnSpc>
                <a:spcPts val="1000"/>
              </a:lnSpc>
              <a:buNone/>
            </a:pPr>
            <a:r>
              <a:rPr lang="en-US" sz="850" dirty="0">
                <a:solidFill>
                  <a:srgbClr val="141414"/>
                </a:solidFill>
                <a:latin typeface="Calibri" pitchFamily="34" charset="0"/>
                <a:ea typeface="Calibri" pitchFamily="34" charset="-122"/>
                <a:cs typeface="Calibri" pitchFamily="34" charset="-120"/>
              </a:rPr>
              <a:t>“Source not in this AIS data” is held as an explicit hypothesis, so a silent tanker is never blamed on the nearest ship.</a:t>
            </a:r>
            <a:endParaRPr lang="en-US" sz="850" dirty="0"/>
          </a:p>
        </p:txBody>
      </p:sp>
      <p:sp>
        <p:nvSpPr>
          <p:cNvPr id="31" name="Shape 27"/>
          <p:cNvSpPr/>
          <p:nvPr/>
        </p:nvSpPr>
        <p:spPr>
          <a:xfrm>
            <a:off x="10104120" y="2834640"/>
            <a:ext cx="1783080" cy="1115568"/>
          </a:xfrm>
          <a:prstGeom prst="roundRect">
            <a:avLst>
              <a:gd name="adj" fmla="val 8197"/>
            </a:avLst>
          </a:prstGeom>
          <a:solidFill>
            <a:srgbClr val="FFFFFF"/>
          </a:solidFill>
          <a:ln w="15875">
            <a:solidFill>
              <a:srgbClr val="000000"/>
            </a:solidFill>
            <a:prstDash val="solid"/>
          </a:ln>
        </p:spPr>
        <p:txBody>
          <a:bodyPr/>
          <a:lstStyle/>
          <a:p>
            <a:endParaRPr lang="en-IN"/>
          </a:p>
        </p:txBody>
      </p:sp>
      <p:sp>
        <p:nvSpPr>
          <p:cNvPr id="32" name="Shape 28"/>
          <p:cNvSpPr/>
          <p:nvPr/>
        </p:nvSpPr>
        <p:spPr>
          <a:xfrm>
            <a:off x="10204704" y="2976372"/>
            <a:ext cx="128016" cy="128016"/>
          </a:xfrm>
          <a:prstGeom prst="ellipse">
            <a:avLst/>
          </a:prstGeom>
          <a:solidFill>
            <a:srgbClr val="F1C40F"/>
          </a:solidFill>
          <a:ln w="12700">
            <a:solidFill>
              <a:srgbClr val="F1C40F"/>
            </a:solidFill>
            <a:prstDash val="solid"/>
          </a:ln>
        </p:spPr>
        <p:txBody>
          <a:bodyPr/>
          <a:lstStyle/>
          <a:p>
            <a:endParaRPr lang="en-IN"/>
          </a:p>
        </p:txBody>
      </p:sp>
      <p:sp>
        <p:nvSpPr>
          <p:cNvPr id="33" name="Text 29"/>
          <p:cNvSpPr txBox="1"/>
          <p:nvPr/>
        </p:nvSpPr>
        <p:spPr>
          <a:xfrm>
            <a:off x="10378440" y="2889504"/>
            <a:ext cx="1417320" cy="1005840"/>
          </a:xfrm>
          <a:prstGeom prst="rect">
            <a:avLst/>
          </a:prstGeom>
          <a:noFill/>
          <a:ln/>
        </p:spPr>
        <p:txBody>
          <a:bodyPr wrap="square" lIns="0" tIns="0" rIns="0" bIns="0" rtlCol="0" anchor="t"/>
          <a:lstStyle/>
          <a:p>
            <a:pPr marL="0" indent="0">
              <a:lnSpc>
                <a:spcPts val="1000"/>
              </a:lnSpc>
              <a:buNone/>
            </a:pPr>
            <a:r>
              <a:rPr lang="en-US" sz="850" b="1" dirty="0">
                <a:solidFill>
                  <a:srgbClr val="141414"/>
                </a:solidFill>
                <a:latin typeface="Calibri" pitchFamily="34" charset="0"/>
                <a:ea typeface="Calibri" pitchFamily="34" charset="-122"/>
                <a:cs typeface="Calibri" pitchFamily="34" charset="-120"/>
              </a:rPr>
              <a:t>Spoofed identities</a:t>
            </a:r>
            <a:endParaRPr lang="en-US" sz="850" dirty="0"/>
          </a:p>
          <a:p>
            <a:pPr marL="0" indent="0">
              <a:lnSpc>
                <a:spcPts val="1000"/>
              </a:lnSpc>
              <a:buNone/>
            </a:pPr>
            <a:r>
              <a:rPr lang="en-US" sz="850" dirty="0">
                <a:solidFill>
                  <a:srgbClr val="141414"/>
                </a:solidFill>
                <a:latin typeface="Calibri" pitchFamily="34" charset="0"/>
                <a:ea typeface="Calibri" pitchFamily="34" charset="-122"/>
                <a:cs typeface="Calibri" pitchFamily="34" charset="-120"/>
              </a:rPr>
              <a:t>Each track is tested for kinematic consistency before its likelihood is allowed to count.</a:t>
            </a:r>
            <a:endParaRPr lang="en-US" sz="850" dirty="0"/>
          </a:p>
        </p:txBody>
      </p:sp>
      <p:sp>
        <p:nvSpPr>
          <p:cNvPr id="34" name="Shape 30"/>
          <p:cNvSpPr/>
          <p:nvPr/>
        </p:nvSpPr>
        <p:spPr>
          <a:xfrm>
            <a:off x="10104120" y="4078224"/>
            <a:ext cx="1783080" cy="1115568"/>
          </a:xfrm>
          <a:prstGeom prst="roundRect">
            <a:avLst>
              <a:gd name="adj" fmla="val 8197"/>
            </a:avLst>
          </a:prstGeom>
          <a:solidFill>
            <a:srgbClr val="FFFFFF"/>
          </a:solidFill>
          <a:ln w="15875">
            <a:solidFill>
              <a:srgbClr val="000000"/>
            </a:solidFill>
            <a:prstDash val="solid"/>
          </a:ln>
        </p:spPr>
        <p:txBody>
          <a:bodyPr/>
          <a:lstStyle/>
          <a:p>
            <a:endParaRPr lang="en-IN"/>
          </a:p>
        </p:txBody>
      </p:sp>
      <p:sp>
        <p:nvSpPr>
          <p:cNvPr id="35" name="Shape 31"/>
          <p:cNvSpPr/>
          <p:nvPr/>
        </p:nvSpPr>
        <p:spPr>
          <a:xfrm>
            <a:off x="10204704" y="4219956"/>
            <a:ext cx="128016" cy="128016"/>
          </a:xfrm>
          <a:prstGeom prst="ellipse">
            <a:avLst/>
          </a:prstGeom>
          <a:solidFill>
            <a:srgbClr val="C0392B"/>
          </a:solidFill>
          <a:ln w="12700">
            <a:solidFill>
              <a:srgbClr val="C0392B"/>
            </a:solidFill>
            <a:prstDash val="solid"/>
          </a:ln>
        </p:spPr>
        <p:txBody>
          <a:bodyPr/>
          <a:lstStyle/>
          <a:p>
            <a:endParaRPr lang="en-IN"/>
          </a:p>
        </p:txBody>
      </p:sp>
      <p:sp>
        <p:nvSpPr>
          <p:cNvPr id="36" name="Text 32"/>
          <p:cNvSpPr txBox="1"/>
          <p:nvPr/>
        </p:nvSpPr>
        <p:spPr>
          <a:xfrm>
            <a:off x="10378440" y="4133088"/>
            <a:ext cx="1417320" cy="1005840"/>
          </a:xfrm>
          <a:prstGeom prst="rect">
            <a:avLst/>
          </a:prstGeom>
          <a:noFill/>
          <a:ln/>
        </p:spPr>
        <p:txBody>
          <a:bodyPr wrap="square" lIns="0" tIns="0" rIns="0" bIns="0" rtlCol="0" anchor="t"/>
          <a:lstStyle/>
          <a:p>
            <a:pPr marL="0" indent="0">
              <a:lnSpc>
                <a:spcPts val="1000"/>
              </a:lnSpc>
              <a:buNone/>
            </a:pPr>
            <a:r>
              <a:rPr lang="en-US" sz="850" b="1" dirty="0">
                <a:solidFill>
                  <a:srgbClr val="141414"/>
                </a:solidFill>
                <a:latin typeface="Calibri" pitchFamily="34" charset="0"/>
                <a:ea typeface="Calibri" pitchFamily="34" charset="-122"/>
                <a:cs typeface="Calibri" pitchFamily="34" charset="-120"/>
              </a:rPr>
              <a:t>Evidentiary standard</a:t>
            </a:r>
            <a:endParaRPr lang="en-US" sz="850" dirty="0"/>
          </a:p>
          <a:p>
            <a:pPr marL="0" indent="0">
              <a:lnSpc>
                <a:spcPts val="1000"/>
              </a:lnSpc>
              <a:buNone/>
            </a:pPr>
            <a:r>
              <a:rPr lang="en-US" sz="850" dirty="0">
                <a:solidFill>
                  <a:srgbClr val="141414"/>
                </a:solidFill>
                <a:latin typeface="Calibri" pitchFamily="34" charset="0"/>
                <a:ea typeface="Calibri" pitchFamily="34" charset="-122"/>
                <a:cs typeface="Calibri" pitchFamily="34" charset="-120"/>
              </a:rPr>
              <a:t>SHA-256 sealing plus a 32-scenario self-audit shows the finding survives its own assumptions.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92608" y="201168"/>
            <a:ext cx="1554480" cy="603504"/>
          </a:xfrm>
          <a:prstGeom prst="ellipse">
            <a:avLst/>
          </a:prstGeom>
          <a:solidFill>
            <a:srgbClr val="FFFFFF"/>
          </a:solidFill>
          <a:ln w="12700">
            <a:solidFill>
              <a:srgbClr val="5B4B8A"/>
            </a:solidFill>
            <a:prstDash val="solid"/>
          </a:ln>
        </p:spPr>
        <p:txBody>
          <a:bodyPr/>
          <a:lstStyle/>
          <a:p>
            <a:endParaRPr lang="en-IN"/>
          </a:p>
        </p:txBody>
      </p:sp>
      <p:sp>
        <p:nvSpPr>
          <p:cNvPr id="3" name="Text 1"/>
          <p:cNvSpPr txBox="1"/>
          <p:nvPr/>
        </p:nvSpPr>
        <p:spPr>
          <a:xfrm>
            <a:off x="292608" y="201168"/>
            <a:ext cx="1554480" cy="603504"/>
          </a:xfrm>
          <a:prstGeom prst="rect">
            <a:avLst/>
          </a:prstGeom>
          <a:noFill/>
          <a:ln/>
        </p:spPr>
        <p:txBody>
          <a:bodyPr wrap="square" lIns="0" tIns="0" rIns="0" bIns="0"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Evinco</a:t>
            </a:r>
            <a:endParaRPr lang="en-US" sz="1600" dirty="0"/>
          </a:p>
        </p:txBody>
      </p:sp>
      <p:sp>
        <p:nvSpPr>
          <p:cNvPr id="4" name="Text 2"/>
          <p:cNvSpPr txBox="1"/>
          <p:nvPr/>
        </p:nvSpPr>
        <p:spPr>
          <a:xfrm>
            <a:off x="1965960" y="146304"/>
            <a:ext cx="8138160" cy="731520"/>
          </a:xfrm>
          <a:prstGeom prst="rect">
            <a:avLst/>
          </a:prstGeom>
          <a:noFill/>
          <a:ln/>
        </p:spPr>
        <p:txBody>
          <a:bodyPr wrap="square" lIns="0" tIns="0" rIns="0" bIns="0" rtlCol="0" anchor="ctr"/>
          <a:lstStyle/>
          <a:p>
            <a:pPr marL="0" indent="0" algn="ctr">
              <a:buNone/>
            </a:pPr>
            <a:r>
              <a:rPr lang="en-US" sz="3200" b="1" dirty="0">
                <a:solidFill>
                  <a:srgbClr val="000000"/>
                </a:solidFill>
                <a:latin typeface="Bookman Old Style" pitchFamily="34" charset="0"/>
                <a:ea typeface="Bookman Old Style" pitchFamily="34" charset="-122"/>
                <a:cs typeface="Bookman Old Style" pitchFamily="34" charset="-120"/>
              </a:rPr>
              <a:t>IMPACT AND BENEFITS</a:t>
            </a:r>
            <a:endParaRPr lang="en-US" sz="3200" dirty="0"/>
          </a:p>
        </p:txBody>
      </p:sp>
      <p:pic>
        <p:nvPicPr>
          <p:cNvPr id="5" name="Image 0" descr="preencoded.png"/>
          <p:cNvPicPr>
            <a:picLocks noChangeAspect="1"/>
          </p:cNvPicPr>
          <p:nvPr/>
        </p:nvPicPr>
        <p:blipFill>
          <a:blip r:embed="rId3"/>
          <a:stretch>
            <a:fillRect/>
          </a:stretch>
        </p:blipFill>
        <p:spPr>
          <a:xfrm>
            <a:off x="10195560" y="201168"/>
            <a:ext cx="1691640" cy="813816"/>
          </a:xfrm>
          <a:prstGeom prst="rect">
            <a:avLst/>
          </a:prstGeom>
        </p:spPr>
      </p:pic>
      <p:sp>
        <p:nvSpPr>
          <p:cNvPr id="6" name="Shape 3"/>
          <p:cNvSpPr/>
          <p:nvPr/>
        </p:nvSpPr>
        <p:spPr>
          <a:xfrm>
            <a:off x="0" y="6455664"/>
            <a:ext cx="12188952" cy="402336"/>
          </a:xfrm>
          <a:prstGeom prst="rect">
            <a:avLst/>
          </a:prstGeom>
          <a:solidFill>
            <a:srgbClr val="0171C1"/>
          </a:solidFill>
          <a:ln/>
        </p:spPr>
        <p:txBody>
          <a:bodyPr/>
          <a:lstStyle/>
          <a:p>
            <a:endParaRPr lang="en-IN"/>
          </a:p>
        </p:txBody>
      </p:sp>
      <p:sp>
        <p:nvSpPr>
          <p:cNvPr id="7" name="Text 4"/>
          <p:cNvSpPr txBox="1"/>
          <p:nvPr/>
        </p:nvSpPr>
        <p:spPr>
          <a:xfrm>
            <a:off x="11274552" y="6455664"/>
            <a:ext cx="685800" cy="402336"/>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5</a:t>
            </a:r>
            <a:endParaRPr lang="en-US" sz="1200" dirty="0"/>
          </a:p>
        </p:txBody>
      </p:sp>
      <p:sp>
        <p:nvSpPr>
          <p:cNvPr id="8" name="Text 5"/>
          <p:cNvSpPr txBox="1"/>
          <p:nvPr/>
        </p:nvSpPr>
        <p:spPr>
          <a:xfrm>
            <a:off x="384048" y="1115568"/>
            <a:ext cx="2743200" cy="36576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Impacts :</a:t>
            </a:r>
            <a:endParaRPr lang="en-US" sz="2100" dirty="0"/>
          </a:p>
        </p:txBody>
      </p:sp>
      <p:sp>
        <p:nvSpPr>
          <p:cNvPr id="9" name="Shape 6"/>
          <p:cNvSpPr/>
          <p:nvPr/>
        </p:nvSpPr>
        <p:spPr>
          <a:xfrm>
            <a:off x="411480" y="1554480"/>
            <a:ext cx="5806440" cy="1874520"/>
          </a:xfrm>
          <a:prstGeom prst="roundRect">
            <a:avLst>
              <a:gd name="adj" fmla="val 7805"/>
            </a:avLst>
          </a:prstGeom>
          <a:solidFill>
            <a:srgbClr val="FFFFFF"/>
          </a:solidFill>
          <a:ln w="19050">
            <a:solidFill>
              <a:srgbClr val="000000"/>
            </a:solidFill>
            <a:prstDash val="solid"/>
          </a:ln>
        </p:spPr>
        <p:txBody>
          <a:bodyPr/>
          <a:lstStyle/>
          <a:p>
            <a:endParaRPr lang="en-IN"/>
          </a:p>
        </p:txBody>
      </p:sp>
      <p:sp>
        <p:nvSpPr>
          <p:cNvPr id="10" name="Text 7"/>
          <p:cNvSpPr txBox="1"/>
          <p:nvPr/>
        </p:nvSpPr>
        <p:spPr>
          <a:xfrm>
            <a:off x="557784" y="1645920"/>
            <a:ext cx="5513832" cy="16916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41414"/>
                </a:solidFill>
                <a:latin typeface="Calibri" pitchFamily="34" charset="0"/>
                <a:ea typeface="Calibri" pitchFamily="34" charset="-122"/>
                <a:cs typeface="Calibri" pitchFamily="34" charset="-120"/>
              </a:rPr>
              <a:t>Cuts spill attribution from 48–72 hours to about twenty seconds</a:t>
            </a:r>
            <a:endParaRPr lang="en-US" sz="1250" dirty="0"/>
          </a:p>
          <a:p>
            <a:pPr marL="342900" indent="-342900">
              <a:lnSpc>
                <a:spcPts val="1600"/>
              </a:lnSpc>
              <a:spcAft>
                <a:spcPts val="600"/>
              </a:spcAft>
              <a:buSzPct val="100000"/>
              <a:buChar char="•"/>
            </a:pPr>
            <a:r>
              <a:rPr lang="en-US" sz="1250" dirty="0">
                <a:solidFill>
                  <a:srgbClr val="141414"/>
                </a:solidFill>
                <a:latin typeface="Calibri" pitchFamily="34" charset="0"/>
                <a:ea typeface="Calibri" pitchFamily="34" charset="-122"/>
                <a:cs typeface="Calibri" pitchFamily="34" charset="-120"/>
              </a:rPr>
              <a:t>Gives the Coast Guard and NTRO a ranked, evidence-backed suspect list</a:t>
            </a:r>
            <a:endParaRPr lang="en-US" sz="1250" dirty="0"/>
          </a:p>
          <a:p>
            <a:pPr marL="342900" indent="-342900">
              <a:lnSpc>
                <a:spcPts val="1600"/>
              </a:lnSpc>
              <a:spcAft>
                <a:spcPts val="600"/>
              </a:spcAft>
              <a:buSzPct val="100000"/>
              <a:buChar char="•"/>
            </a:pPr>
            <a:r>
              <a:rPr lang="en-US" sz="1250" dirty="0">
                <a:solidFill>
                  <a:srgbClr val="141414"/>
                </a:solidFill>
                <a:latin typeface="Calibri" pitchFamily="34" charset="0"/>
                <a:ea typeface="Calibri" pitchFamily="34" charset="-122"/>
                <a:cs typeface="Calibri" pitchFamily="34" charset="-120"/>
              </a:rPr>
              <a:t>Deters illegal tank washing and bilge dumping inside India’s EEZ</a:t>
            </a:r>
            <a:endParaRPr lang="en-US" sz="1250" dirty="0"/>
          </a:p>
          <a:p>
            <a:pPr marL="342900" indent="-342900">
              <a:lnSpc>
                <a:spcPts val="1600"/>
              </a:lnSpc>
              <a:spcAft>
                <a:spcPts val="600"/>
              </a:spcAft>
              <a:buSzPct val="100000"/>
              <a:buChar char="•"/>
            </a:pPr>
            <a:r>
              <a:rPr lang="en-US" sz="1250" dirty="0">
                <a:solidFill>
                  <a:srgbClr val="141414"/>
                </a:solidFill>
                <a:latin typeface="Calibri" pitchFamily="34" charset="0"/>
                <a:ea typeface="Calibri" pitchFamily="34" charset="-122"/>
                <a:cs typeface="Calibri" pitchFamily="34" charset="-120"/>
              </a:rPr>
              <a:t>Faster origin estimates mean faster containment of coast and fisheries</a:t>
            </a:r>
            <a:endParaRPr lang="en-US" sz="1250" dirty="0"/>
          </a:p>
          <a:p>
            <a:pPr marL="342900" indent="-342900">
              <a:lnSpc>
                <a:spcPts val="1600"/>
              </a:lnSpc>
              <a:spcAft>
                <a:spcPts val="600"/>
              </a:spcAft>
              <a:buSzPct val="100000"/>
              <a:buChar char="•"/>
            </a:pPr>
            <a:r>
              <a:rPr lang="en-US" sz="1250" dirty="0">
                <a:solidFill>
                  <a:srgbClr val="141414"/>
                </a:solidFill>
                <a:latin typeface="Calibri" pitchFamily="34" charset="0"/>
                <a:ea typeface="Calibri" pitchFamily="34" charset="-122"/>
                <a:cs typeface="Calibri" pitchFamily="34" charset="-120"/>
              </a:rPr>
              <a:t>Declines to name anyone when the evidence is thin — protects the innocent</a:t>
            </a:r>
            <a:endParaRPr lang="en-US" sz="1250" dirty="0"/>
          </a:p>
        </p:txBody>
      </p:sp>
      <p:sp>
        <p:nvSpPr>
          <p:cNvPr id="11" name="Shape 8"/>
          <p:cNvSpPr/>
          <p:nvPr/>
        </p:nvSpPr>
        <p:spPr>
          <a:xfrm>
            <a:off x="6537960" y="1554480"/>
            <a:ext cx="1280160" cy="1005840"/>
          </a:xfrm>
          <a:prstGeom prst="roundRect">
            <a:avLst>
              <a:gd name="adj" fmla="val 9091"/>
            </a:avLst>
          </a:prstGeom>
          <a:solidFill>
            <a:srgbClr val="EAF3FA"/>
          </a:solidFill>
          <a:ln w="12700">
            <a:solidFill>
              <a:srgbClr val="9CC4E0"/>
            </a:solidFill>
            <a:prstDash val="solid"/>
          </a:ln>
        </p:spPr>
        <p:txBody>
          <a:bodyPr/>
          <a:lstStyle/>
          <a:p>
            <a:endParaRPr lang="en-IN"/>
          </a:p>
        </p:txBody>
      </p:sp>
      <p:sp>
        <p:nvSpPr>
          <p:cNvPr id="12" name="Text 9"/>
          <p:cNvSpPr txBox="1"/>
          <p:nvPr/>
        </p:nvSpPr>
        <p:spPr>
          <a:xfrm>
            <a:off x="6537960" y="1627632"/>
            <a:ext cx="1280160" cy="475488"/>
          </a:xfrm>
          <a:prstGeom prst="rect">
            <a:avLst/>
          </a:prstGeom>
          <a:noFill/>
          <a:ln/>
        </p:spPr>
        <p:txBody>
          <a:bodyPr wrap="square" lIns="0" tIns="0" rIns="0" bIns="0" rtlCol="0" anchor="ctr"/>
          <a:lstStyle/>
          <a:p>
            <a:pPr marL="0" indent="0" algn="ctr">
              <a:buNone/>
            </a:pPr>
            <a:r>
              <a:rPr lang="en-US" sz="2100" b="1" dirty="0">
                <a:solidFill>
                  <a:srgbClr val="225487"/>
                </a:solidFill>
                <a:latin typeface="Calibri" pitchFamily="34" charset="0"/>
                <a:ea typeface="Calibri" pitchFamily="34" charset="-122"/>
                <a:cs typeface="Calibri" pitchFamily="34" charset="-120"/>
              </a:rPr>
              <a:t>~21 s</a:t>
            </a:r>
            <a:endParaRPr lang="en-US" sz="2100" dirty="0"/>
          </a:p>
        </p:txBody>
      </p:sp>
      <p:sp>
        <p:nvSpPr>
          <p:cNvPr id="13" name="Text 10"/>
          <p:cNvSpPr txBox="1"/>
          <p:nvPr/>
        </p:nvSpPr>
        <p:spPr>
          <a:xfrm>
            <a:off x="6592824" y="2084832"/>
            <a:ext cx="1170432" cy="420624"/>
          </a:xfrm>
          <a:prstGeom prst="rect">
            <a:avLst/>
          </a:prstGeom>
          <a:noFill/>
          <a:ln/>
        </p:spPr>
        <p:txBody>
          <a:bodyPr wrap="square" lIns="0" tIns="0" rIns="0" bIns="0" rtlCol="0" anchor="ctr"/>
          <a:lstStyle/>
          <a:p>
            <a:pPr marL="0" indent="0" algn="ctr">
              <a:lnSpc>
                <a:spcPts val="1000"/>
              </a:lnSpc>
              <a:buNone/>
            </a:pPr>
            <a:r>
              <a:rPr lang="en-US" sz="850" dirty="0">
                <a:solidFill>
                  <a:srgbClr val="3C3C3C"/>
                </a:solidFill>
                <a:latin typeface="Calibri" pitchFamily="34" charset="0"/>
                <a:ea typeface="Calibri" pitchFamily="34" charset="-122"/>
                <a:cs typeface="Calibri" pitchFamily="34" charset="-120"/>
              </a:rPr>
              <a:t>end-to-end per case</a:t>
            </a:r>
            <a:endParaRPr lang="en-US" sz="850" dirty="0"/>
          </a:p>
        </p:txBody>
      </p:sp>
      <p:sp>
        <p:nvSpPr>
          <p:cNvPr id="14" name="Shape 11"/>
          <p:cNvSpPr/>
          <p:nvPr/>
        </p:nvSpPr>
        <p:spPr>
          <a:xfrm>
            <a:off x="7936992" y="1554480"/>
            <a:ext cx="1280160" cy="1005840"/>
          </a:xfrm>
          <a:prstGeom prst="roundRect">
            <a:avLst>
              <a:gd name="adj" fmla="val 9091"/>
            </a:avLst>
          </a:prstGeom>
          <a:solidFill>
            <a:srgbClr val="EAF3FA"/>
          </a:solidFill>
          <a:ln w="12700">
            <a:solidFill>
              <a:srgbClr val="9CC4E0"/>
            </a:solidFill>
            <a:prstDash val="solid"/>
          </a:ln>
        </p:spPr>
        <p:txBody>
          <a:bodyPr/>
          <a:lstStyle/>
          <a:p>
            <a:endParaRPr lang="en-IN"/>
          </a:p>
        </p:txBody>
      </p:sp>
      <p:sp>
        <p:nvSpPr>
          <p:cNvPr id="15" name="Text 12"/>
          <p:cNvSpPr txBox="1"/>
          <p:nvPr/>
        </p:nvSpPr>
        <p:spPr>
          <a:xfrm>
            <a:off x="7936992" y="1627632"/>
            <a:ext cx="1280160" cy="475488"/>
          </a:xfrm>
          <a:prstGeom prst="rect">
            <a:avLst/>
          </a:prstGeom>
          <a:noFill/>
          <a:ln/>
        </p:spPr>
        <p:txBody>
          <a:bodyPr wrap="square" lIns="0" tIns="0" rIns="0" bIns="0" rtlCol="0" anchor="ctr"/>
          <a:lstStyle/>
          <a:p>
            <a:pPr marL="0" indent="0" algn="ctr">
              <a:buNone/>
            </a:pPr>
            <a:r>
              <a:rPr lang="en-US" sz="2100" b="1" dirty="0">
                <a:solidFill>
                  <a:srgbClr val="225487"/>
                </a:solidFill>
                <a:latin typeface="Calibri" pitchFamily="34" charset="0"/>
                <a:ea typeface="Calibri" pitchFamily="34" charset="-122"/>
                <a:cs typeface="Calibri" pitchFamily="34" charset="-120"/>
              </a:rPr>
              <a:t>500</a:t>
            </a:r>
            <a:endParaRPr lang="en-US" sz="2100" dirty="0"/>
          </a:p>
        </p:txBody>
      </p:sp>
      <p:sp>
        <p:nvSpPr>
          <p:cNvPr id="16" name="Text 13"/>
          <p:cNvSpPr txBox="1"/>
          <p:nvPr/>
        </p:nvSpPr>
        <p:spPr>
          <a:xfrm>
            <a:off x="7991856" y="2084832"/>
            <a:ext cx="1170432" cy="420624"/>
          </a:xfrm>
          <a:prstGeom prst="rect">
            <a:avLst/>
          </a:prstGeom>
          <a:noFill/>
          <a:ln/>
        </p:spPr>
        <p:txBody>
          <a:bodyPr wrap="square" lIns="0" tIns="0" rIns="0" bIns="0" rtlCol="0" anchor="ctr"/>
          <a:lstStyle/>
          <a:p>
            <a:pPr marL="0" indent="0" algn="ctr">
              <a:lnSpc>
                <a:spcPts val="1000"/>
              </a:lnSpc>
              <a:buNone/>
            </a:pPr>
            <a:r>
              <a:rPr lang="en-US" sz="850" dirty="0">
                <a:solidFill>
                  <a:srgbClr val="3C3C3C"/>
                </a:solidFill>
                <a:latin typeface="Calibri" pitchFamily="34" charset="0"/>
                <a:ea typeface="Calibri" pitchFamily="34" charset="-122"/>
                <a:cs typeface="Calibri" pitchFamily="34" charset="-120"/>
              </a:rPr>
              <a:t>drift hypotheses</a:t>
            </a:r>
            <a:endParaRPr lang="en-US" sz="850" dirty="0"/>
          </a:p>
        </p:txBody>
      </p:sp>
      <p:sp>
        <p:nvSpPr>
          <p:cNvPr id="17" name="Shape 14"/>
          <p:cNvSpPr/>
          <p:nvPr/>
        </p:nvSpPr>
        <p:spPr>
          <a:xfrm>
            <a:off x="9336024" y="1554480"/>
            <a:ext cx="1280160" cy="1005840"/>
          </a:xfrm>
          <a:prstGeom prst="roundRect">
            <a:avLst>
              <a:gd name="adj" fmla="val 9091"/>
            </a:avLst>
          </a:prstGeom>
          <a:solidFill>
            <a:srgbClr val="EAF3FA"/>
          </a:solidFill>
          <a:ln w="12700">
            <a:solidFill>
              <a:srgbClr val="9CC4E0"/>
            </a:solidFill>
            <a:prstDash val="solid"/>
          </a:ln>
        </p:spPr>
        <p:txBody>
          <a:bodyPr/>
          <a:lstStyle/>
          <a:p>
            <a:endParaRPr lang="en-IN"/>
          </a:p>
        </p:txBody>
      </p:sp>
      <p:sp>
        <p:nvSpPr>
          <p:cNvPr id="18" name="Text 15"/>
          <p:cNvSpPr txBox="1"/>
          <p:nvPr/>
        </p:nvSpPr>
        <p:spPr>
          <a:xfrm>
            <a:off x="9336024" y="1627632"/>
            <a:ext cx="1280160" cy="475488"/>
          </a:xfrm>
          <a:prstGeom prst="rect">
            <a:avLst/>
          </a:prstGeom>
          <a:noFill/>
          <a:ln/>
        </p:spPr>
        <p:txBody>
          <a:bodyPr wrap="square" lIns="0" tIns="0" rIns="0" bIns="0" rtlCol="0" anchor="ctr"/>
          <a:lstStyle/>
          <a:p>
            <a:pPr marL="0" indent="0" algn="ctr">
              <a:buNone/>
            </a:pPr>
            <a:r>
              <a:rPr lang="en-US" sz="2100" b="1" dirty="0">
                <a:solidFill>
                  <a:srgbClr val="225487"/>
                </a:solidFill>
                <a:latin typeface="Calibri" pitchFamily="34" charset="0"/>
                <a:ea typeface="Calibri" pitchFamily="34" charset="-122"/>
                <a:cs typeface="Calibri" pitchFamily="34" charset="-120"/>
              </a:rPr>
              <a:t>0.80</a:t>
            </a:r>
            <a:endParaRPr lang="en-US" sz="2100" dirty="0"/>
          </a:p>
        </p:txBody>
      </p:sp>
      <p:sp>
        <p:nvSpPr>
          <p:cNvPr id="19" name="Text 16"/>
          <p:cNvSpPr txBox="1"/>
          <p:nvPr/>
        </p:nvSpPr>
        <p:spPr>
          <a:xfrm>
            <a:off x="9390888" y="2084832"/>
            <a:ext cx="1170432" cy="420624"/>
          </a:xfrm>
          <a:prstGeom prst="rect">
            <a:avLst/>
          </a:prstGeom>
          <a:noFill/>
          <a:ln/>
        </p:spPr>
        <p:txBody>
          <a:bodyPr wrap="square" lIns="0" tIns="0" rIns="0" bIns="0" rtlCol="0" anchor="ctr"/>
          <a:lstStyle/>
          <a:p>
            <a:pPr marL="0" indent="0" algn="ctr">
              <a:lnSpc>
                <a:spcPts val="1000"/>
              </a:lnSpc>
              <a:buNone/>
            </a:pPr>
            <a:r>
              <a:rPr lang="en-US" sz="850" dirty="0">
                <a:solidFill>
                  <a:srgbClr val="3C3C3C"/>
                </a:solidFill>
                <a:latin typeface="Calibri" pitchFamily="34" charset="0"/>
                <a:ea typeface="Calibri" pitchFamily="34" charset="-122"/>
                <a:cs typeface="Calibri" pitchFamily="34" charset="-120"/>
              </a:rPr>
              <a:t>detection Dice</a:t>
            </a:r>
            <a:endParaRPr lang="en-US" sz="850" dirty="0"/>
          </a:p>
        </p:txBody>
      </p:sp>
      <p:sp>
        <p:nvSpPr>
          <p:cNvPr id="20" name="Shape 17"/>
          <p:cNvSpPr/>
          <p:nvPr/>
        </p:nvSpPr>
        <p:spPr>
          <a:xfrm>
            <a:off x="10735056" y="1554480"/>
            <a:ext cx="1280160" cy="1005840"/>
          </a:xfrm>
          <a:prstGeom prst="roundRect">
            <a:avLst>
              <a:gd name="adj" fmla="val 9091"/>
            </a:avLst>
          </a:prstGeom>
          <a:solidFill>
            <a:srgbClr val="EAF3FA"/>
          </a:solidFill>
          <a:ln w="12700">
            <a:solidFill>
              <a:srgbClr val="9CC4E0"/>
            </a:solidFill>
            <a:prstDash val="solid"/>
          </a:ln>
        </p:spPr>
        <p:txBody>
          <a:bodyPr/>
          <a:lstStyle/>
          <a:p>
            <a:endParaRPr lang="en-IN"/>
          </a:p>
        </p:txBody>
      </p:sp>
      <p:sp>
        <p:nvSpPr>
          <p:cNvPr id="21" name="Text 18"/>
          <p:cNvSpPr txBox="1"/>
          <p:nvPr/>
        </p:nvSpPr>
        <p:spPr>
          <a:xfrm>
            <a:off x="10735056" y="1627632"/>
            <a:ext cx="1280160" cy="475488"/>
          </a:xfrm>
          <a:prstGeom prst="rect">
            <a:avLst/>
          </a:prstGeom>
          <a:noFill/>
          <a:ln/>
        </p:spPr>
        <p:txBody>
          <a:bodyPr wrap="square" lIns="0" tIns="0" rIns="0" bIns="0" rtlCol="0" anchor="ctr"/>
          <a:lstStyle/>
          <a:p>
            <a:pPr marL="0" indent="0" algn="ctr">
              <a:buNone/>
            </a:pPr>
            <a:r>
              <a:rPr lang="en-US" sz="2100" b="1" dirty="0">
                <a:solidFill>
                  <a:srgbClr val="225487"/>
                </a:solidFill>
                <a:latin typeface="Calibri" pitchFamily="34" charset="0"/>
                <a:ea typeface="Calibri" pitchFamily="34" charset="-122"/>
                <a:cs typeface="Calibri" pitchFamily="34" charset="-120"/>
              </a:rPr>
              <a:t>32</a:t>
            </a:r>
            <a:endParaRPr lang="en-US" sz="2100" dirty="0"/>
          </a:p>
        </p:txBody>
      </p:sp>
      <p:sp>
        <p:nvSpPr>
          <p:cNvPr id="22" name="Text 19"/>
          <p:cNvSpPr txBox="1"/>
          <p:nvPr/>
        </p:nvSpPr>
        <p:spPr>
          <a:xfrm>
            <a:off x="10789920" y="2084832"/>
            <a:ext cx="1170432" cy="420624"/>
          </a:xfrm>
          <a:prstGeom prst="rect">
            <a:avLst/>
          </a:prstGeom>
          <a:noFill/>
          <a:ln/>
        </p:spPr>
        <p:txBody>
          <a:bodyPr wrap="square" lIns="0" tIns="0" rIns="0" bIns="0" rtlCol="0" anchor="ctr"/>
          <a:lstStyle/>
          <a:p>
            <a:pPr marL="0" indent="0" algn="ctr">
              <a:lnSpc>
                <a:spcPts val="1000"/>
              </a:lnSpc>
              <a:buNone/>
            </a:pPr>
            <a:r>
              <a:rPr lang="en-US" sz="850" dirty="0">
                <a:solidFill>
                  <a:srgbClr val="3C3C3C"/>
                </a:solidFill>
                <a:latin typeface="Calibri" pitchFamily="34" charset="0"/>
                <a:ea typeface="Calibri" pitchFamily="34" charset="-122"/>
                <a:cs typeface="Calibri" pitchFamily="34" charset="-120"/>
              </a:rPr>
              <a:t>audit scenarios</a:t>
            </a:r>
            <a:endParaRPr lang="en-US" sz="850" dirty="0"/>
          </a:p>
        </p:txBody>
      </p:sp>
      <p:sp>
        <p:nvSpPr>
          <p:cNvPr id="23" name="Shape 20"/>
          <p:cNvSpPr/>
          <p:nvPr/>
        </p:nvSpPr>
        <p:spPr>
          <a:xfrm>
            <a:off x="6537960" y="2743200"/>
            <a:ext cx="5166360" cy="685800"/>
          </a:xfrm>
          <a:prstGeom prst="roundRect">
            <a:avLst>
              <a:gd name="adj" fmla="val 13333"/>
            </a:avLst>
          </a:prstGeom>
          <a:solidFill>
            <a:srgbClr val="FFFFFF"/>
          </a:solidFill>
          <a:ln w="15875">
            <a:solidFill>
              <a:srgbClr val="000000"/>
            </a:solidFill>
            <a:prstDash val="solid"/>
          </a:ln>
        </p:spPr>
        <p:txBody>
          <a:bodyPr/>
          <a:lstStyle/>
          <a:p>
            <a:endParaRPr lang="en-IN"/>
          </a:p>
        </p:txBody>
      </p:sp>
      <p:sp>
        <p:nvSpPr>
          <p:cNvPr id="24" name="Text 21"/>
          <p:cNvSpPr txBox="1"/>
          <p:nvPr/>
        </p:nvSpPr>
        <p:spPr>
          <a:xfrm>
            <a:off x="6656832" y="2788920"/>
            <a:ext cx="4928616" cy="594360"/>
          </a:xfrm>
          <a:prstGeom prst="rect">
            <a:avLst/>
          </a:prstGeom>
          <a:noFill/>
          <a:ln/>
        </p:spPr>
        <p:txBody>
          <a:bodyPr wrap="square" lIns="0" tIns="0" rIns="0" bIns="0" rtlCol="0" anchor="ctr"/>
          <a:lstStyle/>
          <a:p>
            <a:pPr marL="0" indent="0">
              <a:lnSpc>
                <a:spcPts val="1200"/>
              </a:lnSpc>
              <a:buNone/>
            </a:pPr>
            <a:r>
              <a:rPr lang="en-US" sz="1000" b="1" dirty="0">
                <a:solidFill>
                  <a:srgbClr val="141414"/>
                </a:solidFill>
                <a:latin typeface="Calibri" pitchFamily="34" charset="0"/>
                <a:ea typeface="Calibri" pitchFamily="34" charset="-122"/>
                <a:cs typeface="Calibri" pitchFamily="34" charset="-120"/>
              </a:rPr>
              <a:t>Chain of custody:  </a:t>
            </a:r>
            <a:r>
              <a:rPr lang="en-US" sz="1000" dirty="0">
                <a:solidFill>
                  <a:srgbClr val="141414"/>
                </a:solidFill>
                <a:latin typeface="Calibri" pitchFamily="34" charset="0"/>
                <a:ea typeface="Calibri" pitchFamily="34" charset="-122"/>
                <a:cs typeface="Calibri" pitchFamily="34" charset="-120"/>
              </a:rPr>
              <a:t>scene hash → model-weight hash → sealed parameters → manifest digest. A third party re-running the case with the same seed gets the same result.</a:t>
            </a:r>
            <a:endParaRPr lang="en-US" sz="1000" dirty="0"/>
          </a:p>
        </p:txBody>
      </p:sp>
      <p:sp>
        <p:nvSpPr>
          <p:cNvPr id="25" name="Text 22"/>
          <p:cNvSpPr txBox="1"/>
          <p:nvPr/>
        </p:nvSpPr>
        <p:spPr>
          <a:xfrm>
            <a:off x="384048" y="3584448"/>
            <a:ext cx="2743200" cy="36576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Benefits :</a:t>
            </a:r>
            <a:endParaRPr lang="en-US" sz="2100" dirty="0"/>
          </a:p>
        </p:txBody>
      </p:sp>
      <p:sp>
        <p:nvSpPr>
          <p:cNvPr id="26" name="Shape 23"/>
          <p:cNvSpPr/>
          <p:nvPr/>
        </p:nvSpPr>
        <p:spPr>
          <a:xfrm>
            <a:off x="411480" y="4041648"/>
            <a:ext cx="3611880" cy="2103120"/>
          </a:xfrm>
          <a:prstGeom prst="roundRect">
            <a:avLst>
              <a:gd name="adj" fmla="val 5217"/>
            </a:avLst>
          </a:prstGeom>
          <a:solidFill>
            <a:srgbClr val="F2F4F4"/>
          </a:solidFill>
          <a:ln w="12700">
            <a:solidFill>
              <a:srgbClr val="9A9A9A"/>
            </a:solidFill>
            <a:prstDash val="solid"/>
          </a:ln>
        </p:spPr>
        <p:txBody>
          <a:bodyPr/>
          <a:lstStyle/>
          <a:p>
            <a:endParaRPr lang="en-IN"/>
          </a:p>
        </p:txBody>
      </p:sp>
      <p:sp>
        <p:nvSpPr>
          <p:cNvPr id="27" name="Text 24"/>
          <p:cNvSpPr txBox="1"/>
          <p:nvPr/>
        </p:nvSpPr>
        <p:spPr>
          <a:xfrm>
            <a:off x="548640" y="4160520"/>
            <a:ext cx="3337560" cy="329184"/>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Social</a:t>
            </a:r>
            <a:endParaRPr lang="en-US" sz="1600" dirty="0"/>
          </a:p>
        </p:txBody>
      </p:sp>
      <p:sp>
        <p:nvSpPr>
          <p:cNvPr id="28" name="Text 25"/>
          <p:cNvSpPr txBox="1"/>
          <p:nvPr/>
        </p:nvSpPr>
        <p:spPr>
          <a:xfrm>
            <a:off x="594360" y="4553712"/>
            <a:ext cx="3246120" cy="146304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1A1A1A"/>
                </a:solidFill>
                <a:latin typeface="Calibri" pitchFamily="34" charset="0"/>
                <a:ea typeface="Calibri" pitchFamily="34" charset="-122"/>
                <a:cs typeface="Calibri" pitchFamily="34" charset="-120"/>
              </a:rPr>
              <a:t>Protects fishing and coastal livelihoods through earlier containment.</a:t>
            </a:r>
            <a:endParaRPr lang="en-US" sz="1100" dirty="0"/>
          </a:p>
          <a:p>
            <a:pPr marL="342900" indent="-342900">
              <a:lnSpc>
                <a:spcPts val="1400"/>
              </a:lnSpc>
              <a:spcAft>
                <a:spcPts val="800"/>
              </a:spcAft>
              <a:buSzPct val="100000"/>
              <a:buChar char="•"/>
            </a:pPr>
            <a:r>
              <a:rPr lang="en-US" sz="1100" dirty="0">
                <a:solidFill>
                  <a:srgbClr val="1A1A1A"/>
                </a:solidFill>
                <a:latin typeface="Calibri" pitchFamily="34" charset="0"/>
                <a:ea typeface="Calibri" pitchFamily="34" charset="-122"/>
                <a:cs typeface="Calibri" pitchFamily="34" charset="-120"/>
              </a:rPr>
              <a:t>Builds public trust: the system states its uncertainty instead of hiding it.</a:t>
            </a:r>
            <a:endParaRPr lang="en-US" sz="1100" dirty="0"/>
          </a:p>
        </p:txBody>
      </p:sp>
      <p:sp>
        <p:nvSpPr>
          <p:cNvPr id="29" name="Shape 26"/>
          <p:cNvSpPr/>
          <p:nvPr/>
        </p:nvSpPr>
        <p:spPr>
          <a:xfrm>
            <a:off x="4270248" y="4041648"/>
            <a:ext cx="3611880" cy="2103120"/>
          </a:xfrm>
          <a:prstGeom prst="roundRect">
            <a:avLst>
              <a:gd name="adj" fmla="val 5217"/>
            </a:avLst>
          </a:prstGeom>
          <a:solidFill>
            <a:srgbClr val="F2F4F4"/>
          </a:solidFill>
          <a:ln w="12700">
            <a:solidFill>
              <a:srgbClr val="9A9A9A"/>
            </a:solidFill>
            <a:prstDash val="solid"/>
          </a:ln>
        </p:spPr>
        <p:txBody>
          <a:bodyPr/>
          <a:lstStyle/>
          <a:p>
            <a:endParaRPr lang="en-IN"/>
          </a:p>
        </p:txBody>
      </p:sp>
      <p:sp>
        <p:nvSpPr>
          <p:cNvPr id="30" name="Text 27"/>
          <p:cNvSpPr txBox="1"/>
          <p:nvPr/>
        </p:nvSpPr>
        <p:spPr>
          <a:xfrm>
            <a:off x="4407408" y="4160520"/>
            <a:ext cx="3337560" cy="329184"/>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Economic</a:t>
            </a:r>
            <a:endParaRPr lang="en-US" sz="1600" dirty="0"/>
          </a:p>
        </p:txBody>
      </p:sp>
      <p:sp>
        <p:nvSpPr>
          <p:cNvPr id="31" name="Text 28"/>
          <p:cNvSpPr txBox="1"/>
          <p:nvPr/>
        </p:nvSpPr>
        <p:spPr>
          <a:xfrm>
            <a:off x="4453128" y="4553712"/>
            <a:ext cx="3246120" cy="146304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1A1A1A"/>
                </a:solidFill>
                <a:latin typeface="Calibri" pitchFamily="34" charset="0"/>
                <a:ea typeface="Calibri" pitchFamily="34" charset="-122"/>
                <a:cs typeface="Calibri" pitchFamily="34" charset="-120"/>
              </a:rPr>
              <a:t>Recovers clean-up costs from the polluter rather than the exchequer.</a:t>
            </a:r>
            <a:endParaRPr lang="en-US" sz="1100" dirty="0"/>
          </a:p>
          <a:p>
            <a:pPr marL="342900" indent="-342900">
              <a:lnSpc>
                <a:spcPts val="1400"/>
              </a:lnSpc>
              <a:spcAft>
                <a:spcPts val="800"/>
              </a:spcAft>
              <a:buSzPct val="100000"/>
              <a:buChar char="•"/>
            </a:pPr>
            <a:r>
              <a:rPr lang="en-US" sz="1100" dirty="0">
                <a:solidFill>
                  <a:srgbClr val="1A1A1A"/>
                </a:solidFill>
                <a:latin typeface="Calibri" pitchFamily="34" charset="0"/>
                <a:ea typeface="Calibri" pitchFamily="34" charset="-122"/>
                <a:cs typeface="Calibri" pitchFamily="34" charset="-120"/>
              </a:rPr>
              <a:t>Replaces days of expert analyst time with an automated, auditable run.</a:t>
            </a:r>
            <a:endParaRPr lang="en-US" sz="1100" dirty="0"/>
          </a:p>
        </p:txBody>
      </p:sp>
      <p:sp>
        <p:nvSpPr>
          <p:cNvPr id="32" name="Shape 29"/>
          <p:cNvSpPr/>
          <p:nvPr/>
        </p:nvSpPr>
        <p:spPr>
          <a:xfrm>
            <a:off x="8129016" y="4041648"/>
            <a:ext cx="3611880" cy="2103120"/>
          </a:xfrm>
          <a:prstGeom prst="roundRect">
            <a:avLst>
              <a:gd name="adj" fmla="val 5217"/>
            </a:avLst>
          </a:prstGeom>
          <a:solidFill>
            <a:srgbClr val="F2F4F4"/>
          </a:solidFill>
          <a:ln w="12700">
            <a:solidFill>
              <a:srgbClr val="9A9A9A"/>
            </a:solidFill>
            <a:prstDash val="solid"/>
          </a:ln>
        </p:spPr>
        <p:txBody>
          <a:bodyPr/>
          <a:lstStyle/>
          <a:p>
            <a:endParaRPr lang="en-IN"/>
          </a:p>
        </p:txBody>
      </p:sp>
      <p:sp>
        <p:nvSpPr>
          <p:cNvPr id="33" name="Text 30"/>
          <p:cNvSpPr txBox="1"/>
          <p:nvPr/>
        </p:nvSpPr>
        <p:spPr>
          <a:xfrm>
            <a:off x="8266176" y="4160520"/>
            <a:ext cx="3337560" cy="329184"/>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Environmental</a:t>
            </a:r>
            <a:endParaRPr lang="en-US" sz="1600" dirty="0"/>
          </a:p>
        </p:txBody>
      </p:sp>
      <p:sp>
        <p:nvSpPr>
          <p:cNvPr id="34" name="Text 31"/>
          <p:cNvSpPr txBox="1"/>
          <p:nvPr/>
        </p:nvSpPr>
        <p:spPr>
          <a:xfrm>
            <a:off x="8311896" y="4553712"/>
            <a:ext cx="3246120" cy="146304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1A1A1A"/>
                </a:solidFill>
                <a:latin typeface="Calibri" pitchFamily="34" charset="0"/>
                <a:ea typeface="Calibri" pitchFamily="34" charset="-122"/>
                <a:cs typeface="Calibri" pitchFamily="34" charset="-120"/>
              </a:rPr>
              <a:t>Shrinks the window between discharge and response.</a:t>
            </a:r>
            <a:endParaRPr lang="en-US" sz="1100" dirty="0"/>
          </a:p>
          <a:p>
            <a:pPr marL="342900" indent="-342900">
              <a:lnSpc>
                <a:spcPts val="1400"/>
              </a:lnSpc>
              <a:spcAft>
                <a:spcPts val="800"/>
              </a:spcAft>
              <a:buSzPct val="100000"/>
              <a:buChar char="•"/>
            </a:pPr>
            <a:r>
              <a:rPr lang="en-US" sz="1100" dirty="0">
                <a:solidFill>
                  <a:srgbClr val="1A1A1A"/>
                </a:solidFill>
                <a:latin typeface="Calibri" pitchFamily="34" charset="0"/>
                <a:ea typeface="Calibri" pitchFamily="34" charset="-122"/>
                <a:cs typeface="Calibri" pitchFamily="34" charset="-120"/>
              </a:rPr>
              <a:t>Credible attribution deters repeat MARPOL violations at sea.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292608" y="201168"/>
            <a:ext cx="1554480" cy="603504"/>
          </a:xfrm>
          <a:prstGeom prst="ellipse">
            <a:avLst/>
          </a:prstGeom>
          <a:solidFill>
            <a:srgbClr val="FFFFFF"/>
          </a:solidFill>
          <a:ln w="12700">
            <a:solidFill>
              <a:srgbClr val="5B4B8A"/>
            </a:solidFill>
            <a:prstDash val="solid"/>
          </a:ln>
        </p:spPr>
        <p:txBody>
          <a:bodyPr/>
          <a:lstStyle/>
          <a:p>
            <a:endParaRPr lang="en-IN"/>
          </a:p>
        </p:txBody>
      </p:sp>
      <p:sp>
        <p:nvSpPr>
          <p:cNvPr id="3" name="Text 1"/>
          <p:cNvSpPr txBox="1"/>
          <p:nvPr/>
        </p:nvSpPr>
        <p:spPr>
          <a:xfrm>
            <a:off x="292608" y="201168"/>
            <a:ext cx="1554480" cy="603504"/>
          </a:xfrm>
          <a:prstGeom prst="rect">
            <a:avLst/>
          </a:prstGeom>
          <a:noFill/>
          <a:ln/>
        </p:spPr>
        <p:txBody>
          <a:bodyPr wrap="square" lIns="0" tIns="0" rIns="0" bIns="0"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Evinco</a:t>
            </a:r>
            <a:endParaRPr lang="en-US" sz="1600" dirty="0"/>
          </a:p>
        </p:txBody>
      </p:sp>
      <p:sp>
        <p:nvSpPr>
          <p:cNvPr id="4" name="Text 2"/>
          <p:cNvSpPr txBox="1"/>
          <p:nvPr/>
        </p:nvSpPr>
        <p:spPr>
          <a:xfrm>
            <a:off x="1965960" y="146304"/>
            <a:ext cx="8138160" cy="731520"/>
          </a:xfrm>
          <a:prstGeom prst="rect">
            <a:avLst/>
          </a:prstGeom>
          <a:noFill/>
          <a:ln/>
        </p:spPr>
        <p:txBody>
          <a:bodyPr wrap="square" lIns="0" tIns="0" rIns="0" bIns="0" rtlCol="0" anchor="ctr"/>
          <a:lstStyle/>
          <a:p>
            <a:pPr marL="0" indent="0" algn="ctr">
              <a:buNone/>
            </a:pPr>
            <a:r>
              <a:rPr lang="en-US" sz="3200" b="1" dirty="0">
                <a:solidFill>
                  <a:srgbClr val="000000"/>
                </a:solidFill>
                <a:latin typeface="Bookman Old Style" pitchFamily="34" charset="0"/>
                <a:ea typeface="Bookman Old Style" pitchFamily="34" charset="-122"/>
                <a:cs typeface="Bookman Old Style" pitchFamily="34" charset="-120"/>
              </a:rPr>
              <a:t>RESEARCH  AND REFERENCES</a:t>
            </a:r>
            <a:endParaRPr lang="en-US" sz="3200" dirty="0"/>
          </a:p>
        </p:txBody>
      </p:sp>
      <p:pic>
        <p:nvPicPr>
          <p:cNvPr id="5" name="Image 0" descr="preencoded.png"/>
          <p:cNvPicPr>
            <a:picLocks noChangeAspect="1"/>
          </p:cNvPicPr>
          <p:nvPr/>
        </p:nvPicPr>
        <p:blipFill>
          <a:blip r:embed="rId3"/>
          <a:stretch>
            <a:fillRect/>
          </a:stretch>
        </p:blipFill>
        <p:spPr>
          <a:xfrm>
            <a:off x="10195560" y="201168"/>
            <a:ext cx="1691640" cy="813816"/>
          </a:xfrm>
          <a:prstGeom prst="rect">
            <a:avLst/>
          </a:prstGeom>
        </p:spPr>
      </p:pic>
      <p:sp>
        <p:nvSpPr>
          <p:cNvPr id="6" name="Shape 3"/>
          <p:cNvSpPr/>
          <p:nvPr/>
        </p:nvSpPr>
        <p:spPr>
          <a:xfrm>
            <a:off x="0" y="6455664"/>
            <a:ext cx="12188952" cy="402336"/>
          </a:xfrm>
          <a:prstGeom prst="rect">
            <a:avLst/>
          </a:prstGeom>
          <a:solidFill>
            <a:srgbClr val="0171C1"/>
          </a:solidFill>
          <a:ln/>
        </p:spPr>
        <p:txBody>
          <a:bodyPr/>
          <a:lstStyle/>
          <a:p>
            <a:endParaRPr lang="en-IN"/>
          </a:p>
        </p:txBody>
      </p:sp>
      <p:sp>
        <p:nvSpPr>
          <p:cNvPr id="7" name="Text 4"/>
          <p:cNvSpPr txBox="1"/>
          <p:nvPr/>
        </p:nvSpPr>
        <p:spPr>
          <a:xfrm>
            <a:off x="11274552" y="6455664"/>
            <a:ext cx="685800" cy="402336"/>
          </a:xfrm>
          <a:prstGeom prst="rect">
            <a:avLst/>
          </a:prstGeom>
          <a:noFill/>
          <a:ln/>
        </p:spPr>
        <p:txBody>
          <a:bodyPr wrap="square" lIns="0" tIns="0" rIns="0" bIns="0" rtlCol="0" anchor="ctr"/>
          <a:lstStyle/>
          <a:p>
            <a:pPr marL="0" indent="0" algn="r">
              <a:buNone/>
            </a:pPr>
            <a:r>
              <a:rPr lang="en-US" sz="1200" dirty="0">
                <a:solidFill>
                  <a:srgbClr val="FFFFFF"/>
                </a:solidFill>
                <a:latin typeface="Calibri" pitchFamily="34" charset="0"/>
                <a:ea typeface="Calibri" pitchFamily="34" charset="-122"/>
                <a:cs typeface="Calibri" pitchFamily="34" charset="-120"/>
              </a:rPr>
              <a:t>6</a:t>
            </a:r>
            <a:endParaRPr lang="en-US" sz="1200" dirty="0"/>
          </a:p>
        </p:txBody>
      </p:sp>
      <p:sp>
        <p:nvSpPr>
          <p:cNvPr id="8" name="Text 5"/>
          <p:cNvSpPr txBox="1"/>
          <p:nvPr/>
        </p:nvSpPr>
        <p:spPr>
          <a:xfrm>
            <a:off x="411480" y="1207008"/>
            <a:ext cx="3657600" cy="310896"/>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A. Research</a:t>
            </a:r>
            <a:endParaRPr lang="en-US" sz="1500" dirty="0"/>
          </a:p>
        </p:txBody>
      </p:sp>
      <p:sp>
        <p:nvSpPr>
          <p:cNvPr id="9" name="Text 6"/>
          <p:cNvSpPr txBox="1"/>
          <p:nvPr/>
        </p:nvSpPr>
        <p:spPr>
          <a:xfrm>
            <a:off x="594360" y="1266444"/>
            <a:ext cx="10881360" cy="233172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Mineral-oil slicks damp capillary waves and so appear dark in Sentinel-1 backscatter — but calm zones, biogenic films and rain cells do too, which is why a dedicated look-alike screening layer is necessary rather than optional.</a:t>
            </a:r>
            <a:endParaRPr lang="en-US" sz="1200" dirty="0"/>
          </a:p>
          <a:p>
            <a:pPr marL="342900" indent="-342900">
              <a:lnSpc>
                <a:spcPts val="15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Lagrangian backward advection driven by wind, surface current and a windage factor is the established method for reconstructing a release point; running it as a stochastic ensemble converts it from a single guess into a measured uncertainty.</a:t>
            </a:r>
            <a:endParaRPr lang="en-US" sz="1200" dirty="0"/>
          </a:p>
          <a:p>
            <a:pPr marL="342900" indent="-342900">
              <a:lnSpc>
                <a:spcPts val="15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Encoder–decoder segmentation (U-Net) and transformer encoders (SegFormer) fail on different scenes, so averaging their posteriors is more robust than either alone. Our ensemble reaches Dice 0.8018 and IoU 0.6692 on held-out SAR tiles.</a:t>
            </a:r>
            <a:endParaRPr lang="en-US" sz="1200" dirty="0"/>
          </a:p>
          <a:p>
            <a:pPr marL="342900" indent="-342900">
              <a:lnSpc>
                <a:spcPts val="15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Joint space–time AIS matching is what makes attribution defensible: a vessel near the scene at the wrong moment must count for nothing.</a:t>
            </a:r>
            <a:endParaRPr lang="en-US" sz="1200" dirty="0"/>
          </a:p>
        </p:txBody>
      </p:sp>
      <p:sp>
        <p:nvSpPr>
          <p:cNvPr id="10" name="Text 7"/>
          <p:cNvSpPr txBox="1"/>
          <p:nvPr/>
        </p:nvSpPr>
        <p:spPr>
          <a:xfrm>
            <a:off x="411480" y="3663945"/>
            <a:ext cx="3657600" cy="310896"/>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B. References</a:t>
            </a:r>
            <a:endParaRPr lang="en-US" sz="1500" dirty="0"/>
          </a:p>
        </p:txBody>
      </p:sp>
      <p:sp>
        <p:nvSpPr>
          <p:cNvPr id="11" name="Text 8"/>
          <p:cNvSpPr txBox="1"/>
          <p:nvPr/>
        </p:nvSpPr>
        <p:spPr>
          <a:xfrm>
            <a:off x="594360" y="4040622"/>
            <a:ext cx="10881360" cy="1920240"/>
          </a:xfrm>
          <a:prstGeom prst="rect">
            <a:avLst/>
          </a:prstGeom>
          <a:noFill/>
          <a:ln/>
        </p:spPr>
        <p:txBody>
          <a:bodyPr wrap="square" lIns="0" tIns="0" rIns="0" bIns="0" rtlCol="0" anchor="ctr"/>
          <a:lstStyle/>
          <a:p>
            <a:pPr marL="0" indent="0">
              <a:lnSpc>
                <a:spcPts val="1500"/>
              </a:lnSpc>
              <a:spcAft>
                <a:spcPts val="500"/>
              </a:spcAft>
              <a:buNone/>
            </a:pPr>
            <a:endParaRPr lang="en-US" sz="1200" dirty="0">
              <a:solidFill>
                <a:srgbClr val="1A1A1A"/>
              </a:solidFill>
              <a:latin typeface="Calibri" pitchFamily="34" charset="0"/>
              <a:ea typeface="Calibri" pitchFamily="34" charset="-122"/>
              <a:cs typeface="Calibri" pitchFamily="34" charset="-120"/>
            </a:endParaRPr>
          </a:p>
          <a:p>
            <a:pPr marL="0" indent="0">
              <a:lnSpc>
                <a:spcPts val="1500"/>
              </a:lnSpc>
              <a:spcAft>
                <a:spcPts val="500"/>
              </a:spcAft>
              <a:buNone/>
            </a:pPr>
            <a:r>
              <a:rPr lang="en-US" sz="1200" dirty="0">
                <a:solidFill>
                  <a:srgbClr val="1A1A1A"/>
                </a:solidFill>
                <a:latin typeface="Calibri" pitchFamily="34" charset="0"/>
                <a:ea typeface="Calibri" pitchFamily="34" charset="-122"/>
                <a:cs typeface="Calibri" pitchFamily="34" charset="-120"/>
              </a:rPr>
              <a:t>1. Copernicus Sentinel-1 C-band SAR, European Space Agency — https://dataspace.copernicus.eu</a:t>
            </a:r>
            <a:endParaRPr lang="en-US" sz="1200" dirty="0"/>
          </a:p>
          <a:p>
            <a:pPr marL="0" indent="0">
              <a:lnSpc>
                <a:spcPts val="1500"/>
              </a:lnSpc>
              <a:spcAft>
                <a:spcPts val="500"/>
              </a:spcAft>
              <a:buNone/>
            </a:pPr>
            <a:r>
              <a:rPr lang="en-US" sz="1200" dirty="0">
                <a:solidFill>
                  <a:srgbClr val="1A1A1A"/>
                </a:solidFill>
                <a:latin typeface="Calibri" pitchFamily="34" charset="0"/>
                <a:ea typeface="Calibri" pitchFamily="34" charset="-122"/>
                <a:cs typeface="Calibri" pitchFamily="34" charset="-120"/>
              </a:rPr>
              <a:t>2. Open-Meteo Weather and Marine APIs — hourly wind and surface-current fields used for drift.</a:t>
            </a:r>
            <a:endParaRPr lang="en-US" sz="1200" dirty="0"/>
          </a:p>
          <a:p>
            <a:pPr marL="0" indent="0">
              <a:lnSpc>
                <a:spcPts val="1500"/>
              </a:lnSpc>
              <a:spcAft>
                <a:spcPts val="500"/>
              </a:spcAft>
              <a:buNone/>
            </a:pPr>
            <a:r>
              <a:rPr lang="en-US" sz="1200" dirty="0">
                <a:solidFill>
                  <a:srgbClr val="1A1A1A"/>
                </a:solidFill>
                <a:latin typeface="Calibri" pitchFamily="34" charset="0"/>
                <a:ea typeface="Calibri" pitchFamily="34" charset="-122"/>
                <a:cs typeface="Calibri" pitchFamily="34" charset="-120"/>
              </a:rPr>
              <a:t>3. MarineCadastre AccessAIS archive — historical vessel tracks used for attribution — https://marinecadastre.gov/accessais/</a:t>
            </a:r>
            <a:endParaRPr lang="en-US" sz="1200" dirty="0"/>
          </a:p>
          <a:p>
            <a:pPr marL="0" indent="0">
              <a:lnSpc>
                <a:spcPts val="1500"/>
              </a:lnSpc>
              <a:spcAft>
                <a:spcPts val="500"/>
              </a:spcAft>
              <a:buNone/>
            </a:pPr>
            <a:r>
              <a:rPr lang="en-US" sz="1200" dirty="0">
                <a:solidFill>
                  <a:srgbClr val="1A1A1A"/>
                </a:solidFill>
                <a:latin typeface="Calibri" pitchFamily="34" charset="0"/>
                <a:ea typeface="Calibri" pitchFamily="34" charset="-122"/>
                <a:cs typeface="Calibri" pitchFamily="34" charset="-120"/>
              </a:rPr>
              <a:t>4. Bonn Agreement Oil Appearance Code (BAOAC) — basis of the indicative slick volume band.</a:t>
            </a:r>
            <a:endParaRPr lang="en-US" sz="1200" dirty="0"/>
          </a:p>
          <a:p>
            <a:pPr marL="0" indent="0">
              <a:lnSpc>
                <a:spcPts val="1500"/>
              </a:lnSpc>
              <a:spcAft>
                <a:spcPts val="500"/>
              </a:spcAft>
              <a:buNone/>
            </a:pPr>
            <a:r>
              <a:rPr lang="en-US" sz="1200" dirty="0">
                <a:solidFill>
                  <a:srgbClr val="1A1A1A"/>
                </a:solidFill>
                <a:latin typeface="Calibri" pitchFamily="34" charset="0"/>
                <a:ea typeface="Calibri" pitchFamily="34" charset="-122"/>
                <a:cs typeface="Calibri" pitchFamily="34" charset="-120"/>
              </a:rPr>
              <a:t>5. MARPOL Annex I, International Maritime Organization — legal basis for discharge enforcement.</a:t>
            </a:r>
            <a:endParaRPr lang="en-US" sz="1200" dirty="0"/>
          </a:p>
          <a:p>
            <a:pPr marL="0" indent="0">
              <a:lnSpc>
                <a:spcPts val="1500"/>
              </a:lnSpc>
              <a:spcAft>
                <a:spcPts val="500"/>
              </a:spcAft>
              <a:buNone/>
            </a:pPr>
            <a:r>
              <a:rPr lang="en-US" sz="1200" dirty="0">
                <a:solidFill>
                  <a:srgbClr val="1A1A1A"/>
                </a:solidFill>
                <a:latin typeface="Calibri" pitchFamily="34" charset="0"/>
                <a:ea typeface="Calibri" pitchFamily="34" charset="-122"/>
                <a:cs typeface="Calibri" pitchFamily="34" charset="-120"/>
              </a:rPr>
              <a:t>6. SIH 2026 Problem Statement SIH26143, National Technical Research Organisation (NTRO).</a:t>
            </a:r>
          </a:p>
          <a:p>
            <a:pPr marL="0" indent="0">
              <a:lnSpc>
                <a:spcPts val="1500"/>
              </a:lnSpc>
              <a:spcAft>
                <a:spcPts val="500"/>
              </a:spcAft>
              <a:buNone/>
            </a:pPr>
            <a:endParaRPr lang="en-US" sz="1200" dirty="0">
              <a:solidFill>
                <a:srgbClr val="1A1A1A"/>
              </a:solidFill>
              <a:latin typeface="Calibri" pitchFamily="34" charset="0"/>
              <a:ea typeface="Calibri" pitchFamily="34" charset="-122"/>
              <a:cs typeface="Calibri" pitchFamily="34" charset="-120"/>
            </a:endParaRPr>
          </a:p>
          <a:p>
            <a:pPr>
              <a:lnSpc>
                <a:spcPts val="1500"/>
              </a:lnSpc>
              <a:spcAft>
                <a:spcPts val="500"/>
              </a:spcAft>
            </a:pPr>
            <a:r>
              <a:rPr lang="en-US" b="1" dirty="0">
                <a:solidFill>
                  <a:srgbClr val="1A1A1A"/>
                </a:solidFill>
                <a:latin typeface="Calibri" pitchFamily="34" charset="0"/>
                <a:ea typeface="Calibri" pitchFamily="34" charset="-122"/>
                <a:cs typeface="Calibri" pitchFamily="34" charset="-120"/>
              </a:rPr>
              <a:t>Source repository — </a:t>
            </a:r>
            <a:r>
              <a:rPr lang="en-US" b="1" dirty="0">
                <a:solidFill>
                  <a:srgbClr val="1A1A1A"/>
                </a:solidFill>
                <a:latin typeface="Calibri" pitchFamily="34" charset="0"/>
                <a:ea typeface="Calibri" pitchFamily="34" charset="-122"/>
                <a:cs typeface="Calibri" pitchFamily="34" charset="-120"/>
                <a:hlinkClick r:id="rId4"/>
              </a:rPr>
              <a:t>https://github.com/Aral-549/prototype_evinco</a:t>
            </a:r>
            <a:endParaRPr lang="en-US" b="1" dirty="0">
              <a:solidFill>
                <a:srgbClr val="1A1A1A"/>
              </a:solidFill>
              <a:latin typeface="Calibri" pitchFamily="34" charset="0"/>
              <a:ea typeface="Calibri" pitchFamily="34" charset="-122"/>
              <a:cs typeface="Calibri" pitchFamily="34" charset="-120"/>
            </a:endParaRPr>
          </a:p>
          <a:p>
            <a:pPr>
              <a:lnSpc>
                <a:spcPts val="1500"/>
              </a:lnSpc>
              <a:spcAft>
                <a:spcPts val="500"/>
              </a:spcAft>
            </a:pPr>
            <a:r>
              <a:rPr lang="en-US" b="1" dirty="0">
                <a:solidFill>
                  <a:srgbClr val="1A1A1A"/>
                </a:solidFill>
                <a:latin typeface="Calibri" pitchFamily="34" charset="0"/>
                <a:ea typeface="Calibri" pitchFamily="34" charset="-122"/>
                <a:cs typeface="Calibri" pitchFamily="34" charset="-120"/>
              </a:rPr>
              <a:t>Live prototype and </a:t>
            </a:r>
            <a:r>
              <a:rPr lang="en-US" b="1" dirty="0" err="1">
                <a:solidFill>
                  <a:srgbClr val="1A1A1A"/>
                </a:solidFill>
                <a:latin typeface="Calibri" pitchFamily="34" charset="0"/>
                <a:ea typeface="Calibri" pitchFamily="34" charset="-122"/>
                <a:cs typeface="Calibri" pitchFamily="34" charset="-120"/>
              </a:rPr>
              <a:t>OpenAPI</a:t>
            </a:r>
            <a:r>
              <a:rPr lang="en-US" b="1" dirty="0">
                <a:solidFill>
                  <a:srgbClr val="1A1A1A"/>
                </a:solidFill>
                <a:latin typeface="Calibri" pitchFamily="34" charset="0"/>
                <a:ea typeface="Calibri" pitchFamily="34" charset="-122"/>
                <a:cs typeface="Calibri" pitchFamily="34" charset="-120"/>
              </a:rPr>
              <a:t> schema — </a:t>
            </a:r>
            <a:r>
              <a:rPr lang="en-US" b="1" dirty="0">
                <a:solidFill>
                  <a:srgbClr val="1A1A1A"/>
                </a:solidFill>
                <a:latin typeface="Calibri" pitchFamily="34" charset="0"/>
                <a:ea typeface="Calibri" pitchFamily="34" charset="-122"/>
                <a:cs typeface="Calibri" pitchFamily="34" charset="-120"/>
                <a:hlinkClick r:id="rId5"/>
              </a:rPr>
              <a:t>https://evinco-sih.centralindia.cloudapp.azure.com</a:t>
            </a:r>
            <a:endParaRPr lang="en-US"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1211</Words>
  <Application>Microsoft Office PowerPoint</Application>
  <PresentationFormat>Widescreen</PresentationFormat>
  <Paragraphs>129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vln rao</cp:lastModifiedBy>
  <cp:revision>9</cp:revision>
  <dcterms:created xsi:type="dcterms:W3CDTF">2026-09-19T14:27:01Z</dcterms:created>
  <dcterms:modified xsi:type="dcterms:W3CDTF">2026-09-19T15:01:46Z</dcterms:modified>
</cp:coreProperties>
</file>