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8EB-4112-9583-709ED22176F0}"/>
              </c:ext>
            </c:extLst>
          </c:dPt>
          <c:dPt>
            <c:idx val="1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EB-4112-9583-709ED22176F0}"/>
              </c:ext>
            </c:extLst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8EB-4112-9583-709ED22176F0}"/>
              </c:ext>
            </c:extLst>
          </c:dPt>
          <c:dPt>
            <c:idx val="3"/>
            <c:bubble3D val="0"/>
            <c:spPr>
              <a:solidFill>
                <a:srgbClr val="F1C4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8EB-4112-9583-709ED22176F0}"/>
              </c:ext>
            </c:extLst>
          </c:dPt>
          <c:dPt>
            <c:idx val="4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8EB-4112-9583-709ED22176F0}"/>
              </c:ext>
            </c:extLst>
          </c:dPt>
          <c:dPt>
            <c:idx val="5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8EB-4112-9583-709ED22176F0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8EB-4112-9583-709ED22176F0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8EB-4112-9583-709ED22176F0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8EB-4112-9583-709ED22176F0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8EB-4112-9583-709ED22176F0}"/>
                </c:ext>
              </c:extLst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8EB-4112-9583-709ED22176F0}"/>
                </c:ext>
              </c:extLst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8EB-4112-9583-709ED22176F0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No prior intelligence</c:v>
                </c:pt>
                <c:pt idx="1">
                  <c:v>Scan-on-scan sync</c:v>
                </c:pt>
                <c:pt idx="2">
                  <c:v>Frequency-agile emitters</c:v>
                </c:pt>
                <c:pt idx="3">
                  <c:v>Benign emitters</c:v>
                </c:pt>
                <c:pt idx="4">
                  <c:v>Pop-up threats</c:v>
                </c:pt>
                <c:pt idx="5">
                  <c:v>False period locks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8EB-4112-9583-709ED22176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717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SIH 2026, problem statement SIH26143 (NTRO). Live prototype: https://evinco-sih.centralindia.cloudapp.azure.com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 is on the image; drift and attribution need a georeference. Without one the pipeline withholds a position rather than inventing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to end the deployed prototype runs a case in about 21 seconds: 16.6 s detection, 1.3 s screening, 2.5 s drift, 0.4 s self-audit, 0.4 s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Percentages are our own weighting of where attribution cases actually fail, used to prioritise engineering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refusal case matters as much as the naming case: an attribution system that always names someone is not usable as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github.com/Aral-549/prototype_evinco" TargetMode="External"/><Relationship Id="rId5" Type="http://schemas.openxmlformats.org/officeDocument/2006/relationships/hyperlink" Target="https://evinco-sih.centralindia.cloudapp.azur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874520" cy="9052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9260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548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 INDIA HACKATHON 2026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024128"/>
            <a:ext cx="4754880" cy="52578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084832"/>
            <a:ext cx="3227832" cy="37033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68680" y="160020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 SIH26055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– Smart Scan strategy for Electronic Warfare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– Robotics and Drones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– Software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– 120057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– Evinco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01168"/>
            <a:ext cx="155448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92608" y="20116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Evinco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4630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0000"/>
                </a:solidFill>
                <a:latin typeface="Bookman Old Style" pitchFamily="34" charset="0"/>
              </a:rPr>
              <a:t>ANVESHAK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201168"/>
            <a:ext cx="1691640" cy="813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171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11274552" y="645566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1155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u="sng" dirty="0">
                <a:solidFill>
                  <a:srgbClr val="225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: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4447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ANVESHAK — a machine-learning scheduler for an Electronic Support receiver that learns, from its own hits and misses, where and when to listen. With no emitter library or pre-mission data, it discovers emitters, measures their scan periods and dwells exactly when their beams return, while still guaranteeing every band is searched.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Problem :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02920" y="2724912"/>
            <a:ext cx="3246120" cy="3264408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49224" y="2816352"/>
            <a:ext cx="2953512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open-loop sweep gives equal time to empty bands, harmless beacons and live threats.</a:t>
            </a:r>
            <a:endParaRPr lang="en-US" sz="12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sweep can fall into lock-step with a radar's scan: a 32-band sweep never sees a 3.2 s radar for 15 of 16 phase offsets.</a:t>
            </a:r>
            <a:endParaRPr lang="en-US" sz="12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prior intelligence, nothing tells the receiver where a new or threatening emitter is.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uniqueness :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75320" y="2724912"/>
            <a:ext cx="3383280" cy="996696"/>
          </a:xfrm>
          <a:prstGeom prst="roundRect">
            <a:avLst>
              <a:gd name="adj" fmla="val 14679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421624" y="2816352"/>
            <a:ext cx="30906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→ confirm → lock: after a first hit it camps one scan to measure the period, then dwells only on predicted beam passes (95% within ±20 ms).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75320" y="3858768"/>
            <a:ext cx="3383280" cy="996696"/>
          </a:xfrm>
          <a:prstGeom prst="roundRect">
            <a:avLst>
              <a:gd name="adj" fmla="val 14679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8421624" y="3950208"/>
            <a:ext cx="30906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hits and misses: a gradient-boosted hit model, trained on simulator truth, ranks where to search — 15× better than chance at spotting a new threat.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75320" y="4992624"/>
            <a:ext cx="3383280" cy="996696"/>
          </a:xfrm>
          <a:prstGeom prst="roundRect">
            <a:avLst>
              <a:gd name="adj" fmla="val 14679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8421624" y="5084064"/>
            <a:ext cx="30906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Earliest-deadline-first revisit floor: every band re-checked within 1.28 s — no learned policy can starve part of the spectrum.</a:t>
            </a:r>
            <a:endParaRPr lang="en-US" sz="1150" dirty="0"/>
          </a:p>
        </p:txBody>
      </p:sp>
      <p:pic>
        <p:nvPicPr>
          <p:cNvPr id="20" name="Picture 19" descr="waterf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377440"/>
            <a:ext cx="397764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01168"/>
            <a:ext cx="155448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92608" y="20116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Evinco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4630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TECHNICAL APPROACH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201168"/>
            <a:ext cx="1691640" cy="813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171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11274552" y="645566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4048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: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38912" y="1627632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NumPy · SciPy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Marcum-Q detection model (Pd from SNR at set Pfa)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Beta-Bernoulli Thompson sampling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Approximate-GCD scan period / phase estimator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hit model trained on simulator truth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RF scenario generator with ground truth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band-state console: CRUD + live scoring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deployable on Microsoft Azure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03320" y="1207008"/>
            <a:ext cx="3063240" cy="658368"/>
          </a:xfrm>
          <a:prstGeom prst="roundRect">
            <a:avLst>
              <a:gd name="adj" fmla="val 13889"/>
            </a:avLst>
          </a:prstGeom>
          <a:solidFill>
            <a:srgbClr val="BFE3F2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3813048" y="1243584"/>
            <a:ext cx="2843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I: </a:t>
            </a: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RF scene — 32 bands × 10 ms slots, 6 emitter families, ground truth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34940" y="1865376"/>
            <a:ext cx="0" cy="27432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703320" y="2139696"/>
            <a:ext cx="3063240" cy="658368"/>
          </a:xfrm>
          <a:prstGeom prst="roundRect">
            <a:avLst>
              <a:gd name="adj" fmla="val 13889"/>
            </a:avLst>
          </a:prstGeom>
          <a:solidFill>
            <a:srgbClr val="C9E6C9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3813048" y="2176272"/>
            <a:ext cx="2843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II: </a:t>
            </a: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— Marcum-Q Pd from SNR, Pfa 10⁻⁴ per dwell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34940" y="2798064"/>
            <a:ext cx="0" cy="27432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703320" y="3072384"/>
            <a:ext cx="3063240" cy="658368"/>
          </a:xfrm>
          <a:prstGeom prst="roundRect">
            <a:avLst>
              <a:gd name="adj" fmla="val 13889"/>
            </a:avLst>
          </a:prstGeom>
          <a:solidFill>
            <a:srgbClr val="F5B8B4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3813048" y="3108960"/>
            <a:ext cx="2843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III: </a:t>
            </a: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— band posteriors and per-emitter period / phase from hits and misses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234940" y="3730752"/>
            <a:ext cx="0" cy="27432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703320" y="4005072"/>
            <a:ext cx="3063240" cy="658368"/>
          </a:xfrm>
          <a:prstGeom prst="roundRect">
            <a:avLst>
              <a:gd name="adj" fmla="val 13889"/>
            </a:avLst>
          </a:prstGeom>
          <a:solidFill>
            <a:srgbClr val="FBD38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3813048" y="4041648"/>
            <a:ext cx="2843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IV: </a:t>
            </a: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— predicted window › confirm camp › model-ranked search, under the revisit floor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234940" y="4663440"/>
            <a:ext cx="0" cy="27432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3703320" y="4937760"/>
            <a:ext cx="3063240" cy="658368"/>
          </a:xfrm>
          <a:prstGeom prst="roundRect">
            <a:avLst>
              <a:gd name="adj" fmla="val 13889"/>
            </a:avLst>
          </a:prstGeom>
          <a:solidFill>
            <a:srgbClr val="D9C7EE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3813048" y="4974336"/>
            <a:ext cx="2843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V: </a:t>
            </a: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truth — intercept ratio, Pd, Pfa, intercept time, prediction error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178040" y="3154680"/>
            <a:ext cx="1207008" cy="786384"/>
          </a:xfrm>
          <a:prstGeom prst="ellipse">
            <a:avLst/>
          </a:prstGeom>
          <a:solidFill>
            <a:srgbClr val="0171C1"/>
          </a:solidFill>
          <a:ln w="12700">
            <a:solidFill>
              <a:srgbClr val="0171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 txBox="1"/>
          <p:nvPr/>
        </p:nvSpPr>
        <p:spPr>
          <a:xfrm>
            <a:off x="7178040" y="315468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613648" y="1243584"/>
            <a:ext cx="1481328" cy="530352"/>
          </a:xfrm>
          <a:prstGeom prst="ellipse">
            <a:avLst/>
          </a:prstGeom>
          <a:solidFill>
            <a:srgbClr val="0171C1"/>
          </a:solidFill>
          <a:ln w="12700">
            <a:solidFill>
              <a:srgbClr val="0171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8613648" y="124358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window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10195560" y="1170432"/>
            <a:ext cx="1691640" cy="694944"/>
          </a:xfrm>
          <a:prstGeom prst="roundRect">
            <a:avLst>
              <a:gd name="adj" fmla="val 10526"/>
            </a:avLst>
          </a:prstGeom>
          <a:solidFill>
            <a:srgbClr val="F4F6F7"/>
          </a:solidFill>
          <a:ln w="1587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 txBox="1"/>
          <p:nvPr/>
        </p:nvSpPr>
        <p:spPr>
          <a:xfrm>
            <a:off x="10277856" y="1207008"/>
            <a:ext cx="1527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locked radar's beam is due now — the receiver dwells exactly on it.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8613648" y="3227832"/>
            <a:ext cx="1481328" cy="530352"/>
          </a:xfrm>
          <a:prstGeom prst="ellipse">
            <a:avLst/>
          </a:prstGeom>
          <a:solidFill>
            <a:srgbClr val="0171C1"/>
          </a:solidFill>
          <a:ln w="12700">
            <a:solidFill>
              <a:srgbClr val="0171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 txBox="1"/>
          <p:nvPr/>
        </p:nvSpPr>
        <p:spPr>
          <a:xfrm>
            <a:off x="8613648" y="32278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camp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0195560" y="3154680"/>
            <a:ext cx="1691640" cy="694944"/>
          </a:xfrm>
          <a:prstGeom prst="roundRect">
            <a:avLst>
              <a:gd name="adj" fmla="val 10526"/>
            </a:avLst>
          </a:prstGeom>
          <a:solidFill>
            <a:srgbClr val="F4F6F7"/>
          </a:solidFill>
          <a:ln w="15875">
            <a:solidFill>
              <a:srgbClr val="B977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 txBox="1"/>
          <p:nvPr/>
        </p:nvSpPr>
        <p:spPr>
          <a:xfrm>
            <a:off x="10277856" y="3191256"/>
            <a:ext cx="1527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hit on an unknown emitter — stay one scan to measure its period.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613648" y="5212080"/>
            <a:ext cx="1481328" cy="530352"/>
          </a:xfrm>
          <a:prstGeom prst="ellipse">
            <a:avLst/>
          </a:prstGeom>
          <a:solidFill>
            <a:srgbClr val="0171C1"/>
          </a:solidFill>
          <a:ln w="12700">
            <a:solidFill>
              <a:srgbClr val="0171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 txBox="1"/>
          <p:nvPr/>
        </p:nvSpPr>
        <p:spPr>
          <a:xfrm>
            <a:off x="8613648" y="521208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10195560" y="5138928"/>
            <a:ext cx="1691640" cy="694944"/>
          </a:xfrm>
          <a:prstGeom prst="roundRect">
            <a:avLst>
              <a:gd name="adj" fmla="val 10526"/>
            </a:avLst>
          </a:prstGeom>
          <a:solidFill>
            <a:srgbClr val="F4F6F7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 txBox="1"/>
          <p:nvPr/>
        </p:nvSpPr>
        <p:spPr>
          <a:xfrm>
            <a:off x="10277856" y="5175504"/>
            <a:ext cx="1527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model ranks bands by chance of a new threat; every band revisited within 1.28 s.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 flipV="1">
            <a:off x="8385048" y="1920240"/>
            <a:ext cx="228600" cy="162763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8385048" y="3529584"/>
            <a:ext cx="228600" cy="18288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8385048" y="3566160"/>
            <a:ext cx="228600" cy="181051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01168"/>
            <a:ext cx="155448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92608" y="20116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Evinco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4630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FEASIBILITY AND VIABILITY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201168"/>
            <a:ext cx="1691640" cy="813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171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11274552" y="645566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4048" y="1170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: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1627632"/>
            <a:ext cx="3154680" cy="877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548640" y="1682496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running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the simulation core runs a 120 s, 32-band mission in about a second on one CPU core.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1480" y="2670048"/>
            <a:ext cx="3154680" cy="877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48640" y="2724912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needed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 seeded RF environment with per-slot ground truth, exactly as the PS asks.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" y="3712464"/>
            <a:ext cx="3154680" cy="877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548640" y="3767328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NumPy / SciPy on commodity CPUs; no GPU for training or inference.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11480" y="4754880"/>
            <a:ext cx="3154680" cy="877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548640" y="4809744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environment, receiver, belief and scheduler swap independently; a real ES receiver plugs in behind the same interface.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886200" y="111556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blind spectrum search (team estimate) :</a:t>
            </a:r>
            <a:endParaRPr lang="en-US" sz="21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897880" y="1517904"/>
          <a:ext cx="40690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Shape 15"/>
          <p:cNvSpPr/>
          <p:nvPr/>
        </p:nvSpPr>
        <p:spPr>
          <a:xfrm>
            <a:off x="3840480" y="1591056"/>
            <a:ext cx="20116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3941064" y="1732788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 txBox="1"/>
          <p:nvPr/>
        </p:nvSpPr>
        <p:spPr>
          <a:xfrm>
            <a:off x="4114800" y="1645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intelligence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library, no frequency plan: every emitter is discovered, timed and tracked online from hits and misses.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840480" y="2834640"/>
            <a:ext cx="20116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3941064" y="2976372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 txBox="1"/>
          <p:nvPr/>
        </p:nvSpPr>
        <p:spPr>
          <a:xfrm>
            <a:off x="4114800" y="2889504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Frequency-agile emitters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stable period to learn; the hit model ranks their bands instead, our hardest case: 0.16 vs 0.12 for rules alone.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840480" y="4078224"/>
            <a:ext cx="20116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3941064" y="421995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 txBox="1"/>
          <p:nvPr/>
        </p:nvSpPr>
        <p:spPr>
          <a:xfrm>
            <a:off x="4114800" y="41330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threats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revisit floor bounds blind time to 1.28 s per band, whatever the policy prefers.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10104120" y="1591056"/>
            <a:ext cx="1783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10204704" y="1732788"/>
            <a:ext cx="128016" cy="1280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 txBox="1"/>
          <p:nvPr/>
        </p:nvSpPr>
        <p:spPr>
          <a:xfrm>
            <a:off x="10378440" y="16459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Scan-on-scan sync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Commensurate periods hide radars from a fixed sweep; randomised search plus phase lock removes the trap.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0104120" y="2834640"/>
            <a:ext cx="1783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10204704" y="2976372"/>
            <a:ext cx="128016" cy="128016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 txBox="1"/>
          <p:nvPr/>
        </p:nvSpPr>
        <p:spPr>
          <a:xfrm>
            <a:off x="10378440" y="2889504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emitters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intercepts earn reward, so always-on beacons are seen once and then left alone.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10104120" y="4078224"/>
            <a:ext cx="1783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1"/>
          <p:cNvSpPr/>
          <p:nvPr/>
        </p:nvSpPr>
        <p:spPr>
          <a:xfrm>
            <a:off x="10204704" y="4219956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 txBox="1"/>
          <p:nvPr/>
        </p:nvSpPr>
        <p:spPr>
          <a:xfrm>
            <a:off x="10378440" y="4133088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period locks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Largest-consistent-period estimator; three missed predicted windows drop the lock.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01168"/>
            <a:ext cx="155448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92608" y="20116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Evinco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4630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IMPACT AND BENEFITS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201168"/>
            <a:ext cx="1691640" cy="813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171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11274552" y="645566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4048" y="1115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: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11480" y="1554480"/>
            <a:ext cx="580644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557784" y="1645920"/>
            <a:ext cx="55138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4.8× the threat intercepts of an open-loop sweep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 the sweep where radar scans fall in lock-step with it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radar beam pass predicted within ±20 ms, 95% of the time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model: 15× better than chance at finding new threats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band left unwatched for more than 1.28 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37960" y="15544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9CC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537960" y="162763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5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4.8×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592824" y="208483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threat-weighted intercepts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936992" y="15544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9CC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7936992" y="162763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5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7991856" y="208483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sync trap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336024" y="15544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9CC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9336024" y="162763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5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9390888" y="208483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passes within ±20 ms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0735056" y="15544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9CC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10735056" y="162763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5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0" y="208483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model vs chance (AUC-PR)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537960" y="2743200"/>
            <a:ext cx="5166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6656832" y="2788920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guarantee:  </a:t>
            </a: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earliest-deadline-first floor → rules + hit-model scores → dwell. Worst revisit in every simulated mission = 128 slots (1.28 s), exactly the bound.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" y="3584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: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411480" y="4041648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2F4F4"/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548640" y="41605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4553712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are intercepted far more often, so warning and jamming cues are more reliable.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time goes to new and threatening emitters, not known beacons.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270248" y="4041648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2F4F4"/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 txBox="1"/>
          <p:nvPr/>
        </p:nvSpPr>
        <p:spPr>
          <a:xfrm>
            <a:off x="4407408" y="41605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453128" y="4553712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pre-mission intelligence — suited to new theatres and unknown emitters.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scan periods and phases build an emitter library as a by-product.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129016" y="4041648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2F4F4"/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 txBox="1"/>
          <p:nvPr/>
        </p:nvSpPr>
        <p:spPr>
          <a:xfrm>
            <a:off x="8266176" y="41605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311896" y="4553712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software-only upgrade to existing ES receivers; no new RF hardware.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receiver sensitivity yields more intercepts, extending the value of fielded sets.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01168"/>
            <a:ext cx="155448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92608" y="20116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Evinco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4630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 AND REFERENCES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201168"/>
            <a:ext cx="1691640" cy="813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171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11274552" y="645566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2070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Research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266444"/>
            <a:ext cx="10881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Scan-on-scan: with a radar window of τr slots every Tr and a receiver window of τs every Ts, an intercept is possible for only min(1, (τr+τs−1)/gcd(Tr,Ts)) of phase offsets — so a fixed 32-band sweep misses 15/16 of 3.2 s radars entirely. Randomised search and phase lock remove the trap.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follows a square-law, non-fluctuating model (Marcum Q): Pd = 0.9 needs 11.7 dB SNR at Pfa 10⁻⁴ (13.2 dB at 10⁻⁶). Measured Pfa in simulation, 0.7–1.0 × 10⁻⁴, matches the set value.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100 held-out missions (20 per scenario suite, none used in training or tuning) ANVESHAK beat the open-loop sweep in 99 of 100 (paired Wilcoxon p &lt; 10⁻⁴ in every suite). The XGBoost hit model reaches AUC-PR 0.135 against 0.0088 for chance; an externally supplied model scored 0.010. Rules + model beat rules alone on hopping emitters (0.158 vs 0.119, p &lt; 0.001).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we report rather than hide: the pop-up radar is found more often (100% vs 95%) but first intercept is later (median 9.0 s vs 3.0 s), because confirm camps delay search; the revisit floor sets the balance.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3663945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References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40622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500"/>
              </a:spcAft>
              <a:buNone/>
            </a:pPr>
            <a:endParaRPr lang="en-US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R. G. Wiley, ELINT: The Interception and Analysis of Radar Signals, Artech House, 2006.</a:t>
            </a:r>
            <a:endParaRPr lang="en-US" sz="1200" dirty="0"/>
          </a:p>
          <a:p>
            <a:pPr marL="0" indent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J. I. Marcum, “A statistical theory of target detection by pulsed radar,” IRE Trans. Information Theory, 1960.</a:t>
            </a:r>
            <a:endParaRPr lang="en-US" sz="1200" dirty="0"/>
          </a:p>
          <a:p>
            <a:pPr marL="0" indent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T. Chen, C. Guestrin, “XGBoost: A scalable tree boosting system,” Proc. ACM SIGKDD, 2016.</a:t>
            </a:r>
            <a:endParaRPr lang="en-US" sz="1200" dirty="0"/>
          </a:p>
          <a:p>
            <a:pPr marL="0" indent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W. R. Thompson, “On the likelihood that one unknown probability exceeds another,” Biometrika, 1933.</a:t>
            </a:r>
            <a:endParaRPr lang="en-US" sz="1200" dirty="0"/>
          </a:p>
          <a:p>
            <a:pPr marL="0" indent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A. Garivier, E. Moulines, “On upper-confidence bound policies for switching bandit problems,” ALT, 2011.</a:t>
            </a:r>
            <a:endParaRPr lang="en-US" sz="1200" dirty="0"/>
          </a:p>
          <a:p>
            <a:pPr marL="0" indent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SIH 2026 Problem Statement SIH26055, Defence Research and Development Organisation (DRDO).</a:t>
            </a:r>
          </a:p>
          <a:p>
            <a:pPr marL="0" indent="0">
              <a:lnSpc>
                <a:spcPts val="1500"/>
              </a:lnSpc>
              <a:spcAft>
                <a:spcPts val="500"/>
              </a:spcAft>
              <a:buNone/>
            </a:pPr>
            <a:endParaRPr lang="en-US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1500"/>
              </a:lnSpc>
              <a:spcAft>
                <a:spcPts val="500"/>
              </a:spcAft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core, hit model and benchmark — </a:t>
            </a: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NumPy · SciPy · XGBoost, 126 contract tests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1211</Words>
  <Application>Microsoft Office PowerPoint</Application>
  <PresentationFormat>Widescreen</PresentationFormat>
  <Paragraphs>129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vln rao</cp:lastModifiedBy>
  <cp:revision>9</cp:revision>
  <dcterms:created xsi:type="dcterms:W3CDTF">2026-09-19T14:27:01Z</dcterms:created>
  <dcterms:modified xsi:type="dcterms:W3CDTF">2026-09-19T15:01:46Z</dcterms:modified>
</cp:coreProperties>
</file>